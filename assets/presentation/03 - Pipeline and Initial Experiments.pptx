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3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72" r:id="rId1"/>
    <p:sldMasterId id="2147483673" r:id="rId2"/>
    <p:sldMasterId id="2147483674" r:id="rId3"/>
    <p:sldMasterId id="2147483675" r:id="rId4"/>
  </p:sldMasterIdLst>
  <p:notesMasterIdLst>
    <p:notesMasterId r:id="rId28"/>
  </p:notesMasterIdLst>
  <p:sldIdLst>
    <p:sldId id="256" r:id="rId5"/>
    <p:sldId id="291" r:id="rId6"/>
    <p:sldId id="258" r:id="rId7"/>
    <p:sldId id="292" r:id="rId8"/>
    <p:sldId id="293" r:id="rId9"/>
    <p:sldId id="294" r:id="rId10"/>
    <p:sldId id="295" r:id="rId11"/>
    <p:sldId id="296" r:id="rId12"/>
    <p:sldId id="257" r:id="rId13"/>
    <p:sldId id="269" r:id="rId14"/>
    <p:sldId id="270" r:id="rId15"/>
    <p:sldId id="271" r:id="rId16"/>
    <p:sldId id="273" r:id="rId17"/>
    <p:sldId id="275" r:id="rId18"/>
    <p:sldId id="272" r:id="rId19"/>
    <p:sldId id="276" r:id="rId20"/>
    <p:sldId id="274" r:id="rId21"/>
    <p:sldId id="277" r:id="rId22"/>
    <p:sldId id="278" r:id="rId23"/>
    <p:sldId id="279" r:id="rId24"/>
    <p:sldId id="287" r:id="rId25"/>
    <p:sldId id="285" r:id="rId26"/>
    <p:sldId id="289" r:id="rId27"/>
  </p:sldIdLst>
  <p:sldSz cx="9144000" cy="5143500" type="screen16x9"/>
  <p:notesSz cx="9925050" cy="66659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4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00">
          <p15:clr>
            <a:srgbClr val="A4A3A4"/>
          </p15:clr>
        </p15:guide>
        <p15:guide id="2" pos="312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15"/>
    <p:restoredTop sz="94635"/>
  </p:normalViewPr>
  <p:slideViewPr>
    <p:cSldViewPr snapToGrid="0">
      <p:cViewPr>
        <p:scale>
          <a:sx n="164" d="100"/>
          <a:sy n="164" d="100"/>
        </p:scale>
        <p:origin x="1016" y="760"/>
      </p:cViewPr>
      <p:guideLst>
        <p:guide orient="horz" pos="2164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00"/>
        <p:guide pos="312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2" y="0"/>
            <a:ext cx="4300855" cy="333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00" tIns="45350" rIns="90700" bIns="4535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621901" y="0"/>
            <a:ext cx="4300855" cy="333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00" tIns="45350" rIns="90700" bIns="4535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740025" y="500063"/>
            <a:ext cx="4445000" cy="25003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92506" y="3166309"/>
            <a:ext cx="7940040" cy="299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00" tIns="45350" rIns="90700" bIns="45350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048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048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Char char="o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2" y="6331460"/>
            <a:ext cx="4300855" cy="333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00" tIns="45350" rIns="90700" bIns="4535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621901" y="6331460"/>
            <a:ext cx="4300855" cy="333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00" tIns="45350" rIns="90700" bIns="4535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40025" y="500063"/>
            <a:ext cx="4445000" cy="25003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4" name="Google Shape;174;p2:notes"/>
          <p:cNvSpPr txBox="1">
            <a:spLocks noGrp="1"/>
          </p:cNvSpPr>
          <p:nvPr>
            <p:ph type="body" idx="1"/>
          </p:nvPr>
        </p:nvSpPr>
        <p:spPr>
          <a:xfrm>
            <a:off x="992506" y="3166309"/>
            <a:ext cx="7940040" cy="299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00" tIns="45350" rIns="90700" bIns="453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2:notes"/>
          <p:cNvSpPr txBox="1">
            <a:spLocks noGrp="1"/>
          </p:cNvSpPr>
          <p:nvPr>
            <p:ph type="sldNum" idx="12"/>
          </p:nvPr>
        </p:nvSpPr>
        <p:spPr>
          <a:xfrm>
            <a:off x="5621901" y="6331460"/>
            <a:ext cx="4300855" cy="333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00" tIns="45350" rIns="90700" bIns="453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5:notes"/>
          <p:cNvSpPr txBox="1">
            <a:spLocks noGrp="1"/>
          </p:cNvSpPr>
          <p:nvPr>
            <p:ph type="body" idx="1"/>
          </p:nvPr>
        </p:nvSpPr>
        <p:spPr>
          <a:xfrm>
            <a:off x="992506" y="3166309"/>
            <a:ext cx="7940040" cy="2999661"/>
          </a:xfrm>
          <a:prstGeom prst="rect">
            <a:avLst/>
          </a:prstGeom>
        </p:spPr>
        <p:txBody>
          <a:bodyPr spcFirstLastPara="1" wrap="square" lIns="90700" tIns="45350" rIns="90700" bIns="4535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40025" y="500063"/>
            <a:ext cx="4445000" cy="25003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tart">
  <p:cSld name="1_Start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2" descr="TUM_Glockenturm.tif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5215" y="1476375"/>
            <a:ext cx="3819542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body" idx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8347635" y="4806203"/>
            <a:ext cx="575236" cy="26894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2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rt">
  <p:cSld name="Star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body" idx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347635" y="4806203"/>
            <a:ext cx="575236" cy="26894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rt">
  <p:cSld name="Star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83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2" name="Google Shape;32;p5"/>
          <p:cNvSpPr/>
          <p:nvPr/>
        </p:nvSpPr>
        <p:spPr>
          <a:xfrm>
            <a:off x="8347635" y="4806203"/>
            <a:ext cx="575236" cy="26894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tart">
  <p:cSld name="1_Star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6" descr="TUM_Glockenturm.tif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5215" y="1476375"/>
            <a:ext cx="3819542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6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83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8" name="Google Shape;38;p6"/>
          <p:cNvSpPr/>
          <p:nvPr/>
        </p:nvSpPr>
        <p:spPr>
          <a:xfrm>
            <a:off x="8347635" y="4806203"/>
            <a:ext cx="575236" cy="26894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8002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tart">
  <p:cSld name="1_Star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50" name="Google Shape;50;p8"/>
          <p:cNvSpPr txBox="1"/>
          <p:nvPr/>
        </p:nvSpPr>
        <p:spPr>
          <a:xfrm>
            <a:off x="319506" y="321468"/>
            <a:ext cx="7160425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Chair of High-Power Converter Systems</a:t>
            </a:r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TUM School of Engineering and Design</a:t>
            </a:r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University of Munich</a:t>
            </a:r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rt">
  <p:cSld name="Star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Inhalt + Text">
  <p:cSld name="4_Inhalt + 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>
            <a:spLocks noGrp="1"/>
          </p:cNvSpPr>
          <p:nvPr>
            <p:ph type="body" idx="1"/>
          </p:nvPr>
        </p:nvSpPr>
        <p:spPr>
          <a:xfrm>
            <a:off x="319090" y="1222525"/>
            <a:ext cx="8508999" cy="346377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Zwei Inhalte + Text">
  <p:cSld name="1_Zwei Inhalte + 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>
            <a:spLocks noGrp="1"/>
          </p:cNvSpPr>
          <p:nvPr>
            <p:ph type="body" idx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5" name="Google Shape;85;p15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86" name="Google Shape;86;p15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5"/>
          <p:cNvSpPr txBox="1">
            <a:spLocks noGrp="1"/>
          </p:cNvSpPr>
          <p:nvPr>
            <p:ph type="body" idx="2"/>
          </p:nvPr>
        </p:nvSpPr>
        <p:spPr>
          <a:xfrm>
            <a:off x="316992" y="1771076"/>
            <a:ext cx="4188333" cy="2924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8" name="Google Shape;88;p15"/>
          <p:cNvSpPr>
            <a:spLocks noGrp="1"/>
          </p:cNvSpPr>
          <p:nvPr>
            <p:ph type="pic" idx="3"/>
          </p:nvPr>
        </p:nvSpPr>
        <p:spPr>
          <a:xfrm>
            <a:off x="4638677" y="1771077"/>
            <a:ext cx="4180392" cy="2924750"/>
          </a:xfrm>
          <a:prstGeom prst="rect">
            <a:avLst/>
          </a:prstGeom>
          <a:noFill/>
          <a:ln>
            <a:noFill/>
          </a:ln>
        </p:spPr>
      </p:sp>
      <p:sp>
        <p:nvSpPr>
          <p:cNvPr id="89" name="Google Shape;89;p15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zwei Inhalte">
  <p:cSld name="1_zwei Inhalte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 txBox="1">
            <a:spLocks noGrp="1"/>
          </p:cNvSpPr>
          <p:nvPr>
            <p:ph type="body" idx="1"/>
          </p:nvPr>
        </p:nvSpPr>
        <p:spPr>
          <a:xfrm>
            <a:off x="311162" y="1222524"/>
            <a:ext cx="4180910" cy="3475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2" name="Google Shape;92;p16"/>
          <p:cNvSpPr txBox="1">
            <a:spLocks noGrp="1"/>
          </p:cNvSpPr>
          <p:nvPr>
            <p:ph type="body" idx="2"/>
          </p:nvPr>
        </p:nvSpPr>
        <p:spPr>
          <a:xfrm>
            <a:off x="4647179" y="1222524"/>
            <a:ext cx="4180910" cy="3475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3" name="Google Shape;93;p16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94" name="Google Shape;94;p16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6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Inhalt + Text">
  <p:cSld name="3_Inhalt + Text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>
            <a:spLocks noGrp="1"/>
          </p:cNvSpPr>
          <p:nvPr>
            <p:ph type="body" idx="1"/>
          </p:nvPr>
        </p:nvSpPr>
        <p:spPr>
          <a:xfrm>
            <a:off x="319090" y="1785785"/>
            <a:ext cx="8508999" cy="290051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8" name="Google Shape;98;p17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99" name="Google Shape;99;p17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7"/>
          <p:cNvSpPr txBox="1">
            <a:spLocks noGrp="1"/>
          </p:cNvSpPr>
          <p:nvPr>
            <p:ph type="body" idx="2"/>
          </p:nvPr>
        </p:nvSpPr>
        <p:spPr>
          <a:xfrm>
            <a:off x="319090" y="1222525"/>
            <a:ext cx="8508999" cy="50530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1" name="Google Shape;101;p17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große Bilder">
  <p:cSld name="1_große Bilder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04" name="Google Shape;104;p18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8"/>
          <p:cNvSpPr>
            <a:spLocks noGrp="1"/>
          </p:cNvSpPr>
          <p:nvPr>
            <p:ph type="pic" idx="2"/>
          </p:nvPr>
        </p:nvSpPr>
        <p:spPr>
          <a:xfrm>
            <a:off x="0" y="1771076"/>
            <a:ext cx="9144000" cy="3367344"/>
          </a:xfrm>
          <a:prstGeom prst="rect">
            <a:avLst/>
          </a:prstGeom>
          <a:noFill/>
          <a:ln>
            <a:noFill/>
          </a:ln>
        </p:spPr>
      </p:sp>
      <p:sp>
        <p:nvSpPr>
          <p:cNvPr id="106" name="Google Shape;106;p18"/>
          <p:cNvSpPr txBox="1">
            <a:spLocks noGrp="1"/>
          </p:cNvSpPr>
          <p:nvPr>
            <p:ph type="body" idx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ilder formatfüllend">
  <p:cSld name="1_Bilder formatfüllend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>
            <a:spLocks noGrp="1"/>
          </p:cNvSpPr>
          <p:nvPr>
            <p:ph type="pic" idx="2"/>
          </p:nvPr>
        </p:nvSpPr>
        <p:spPr>
          <a:xfrm>
            <a:off x="0" y="1222524"/>
            <a:ext cx="9144000" cy="3920975"/>
          </a:xfrm>
          <a:prstGeom prst="rect">
            <a:avLst/>
          </a:prstGeom>
          <a:noFill/>
          <a:ln>
            <a:noFill/>
          </a:ln>
        </p:spPr>
      </p:sp>
      <p:sp>
        <p:nvSpPr>
          <p:cNvPr id="110" name="Google Shape;110;p19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Zwei Inhalte + Text (Hintergrund)">
  <p:cSld name="1_Zwei Inhalte + Text (Hintergrund)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/>
          <p:nvPr/>
        </p:nvSpPr>
        <p:spPr>
          <a:xfrm>
            <a:off x="0" y="1771076"/>
            <a:ext cx="9144000" cy="33724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0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316992" y="1771076"/>
            <a:ext cx="4197858" cy="2934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8" name="Google Shape;118;p20"/>
          <p:cNvSpPr>
            <a:spLocks noGrp="1"/>
          </p:cNvSpPr>
          <p:nvPr>
            <p:ph type="pic" idx="2"/>
          </p:nvPr>
        </p:nvSpPr>
        <p:spPr>
          <a:xfrm>
            <a:off x="4648200" y="1771076"/>
            <a:ext cx="4180392" cy="2915225"/>
          </a:xfrm>
          <a:prstGeom prst="rect">
            <a:avLst/>
          </a:prstGeom>
          <a:noFill/>
          <a:ln>
            <a:noFill/>
          </a:ln>
        </p:spPr>
      </p:sp>
      <p:sp>
        <p:nvSpPr>
          <p:cNvPr id="119" name="Google Shape;119;p20"/>
          <p:cNvSpPr txBox="1">
            <a:spLocks noGrp="1"/>
          </p:cNvSpPr>
          <p:nvPr>
            <p:ph type="body" idx="3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rt">
  <p:cSld name="Start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>
            <a:spLocks noGrp="1"/>
          </p:cNvSpPr>
          <p:nvPr>
            <p:ph type="body" idx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3" name="Google Shape;123;p21"/>
          <p:cNvSpPr/>
          <p:nvPr/>
        </p:nvSpPr>
        <p:spPr>
          <a:xfrm>
            <a:off x="8347635" y="4806203"/>
            <a:ext cx="575236" cy="26894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1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halt">
  <p:cSld name="Inhalt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8" name="Google Shape;128;p22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29" name="Google Shape;129;p22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2"/>
          <p:cNvSpPr txBox="1">
            <a:spLocks noGrp="1"/>
          </p:cNvSpPr>
          <p:nvPr>
            <p:ph type="body" idx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360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Inhalt">
  <p:cSld name="1_Inhalt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3" name="Google Shape;133;p23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ei Inhalte">
  <p:cSld name="zwei Inhalte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4"/>
          <p:cNvSpPr txBox="1">
            <a:spLocks noGrp="1"/>
          </p:cNvSpPr>
          <p:nvPr>
            <p:ph type="body" idx="1"/>
          </p:nvPr>
        </p:nvSpPr>
        <p:spPr>
          <a:xfrm>
            <a:off x="311162" y="1222524"/>
            <a:ext cx="4180910" cy="3475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2"/>
          </p:nvPr>
        </p:nvSpPr>
        <p:spPr>
          <a:xfrm>
            <a:off x="4647179" y="1222524"/>
            <a:ext cx="4180910" cy="3475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24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1" name="Google Shape;141;p24"/>
          <p:cNvSpPr txBox="1">
            <a:spLocks noGrp="1"/>
          </p:cNvSpPr>
          <p:nvPr>
            <p:ph type="body" idx="3"/>
          </p:nvPr>
        </p:nvSpPr>
        <p:spPr>
          <a:xfrm>
            <a:off x="311161" y="684430"/>
            <a:ext cx="8508999" cy="32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360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ei Inhalte + Text">
  <p:cSld name="Zwei Inhalte + Text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>
            <a:spLocks noGrp="1"/>
          </p:cNvSpPr>
          <p:nvPr>
            <p:ph type="body" idx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4" name="Google Shape;144;p25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45" name="Google Shape;145;p25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body" idx="2"/>
          </p:nvPr>
        </p:nvSpPr>
        <p:spPr>
          <a:xfrm>
            <a:off x="316992" y="1771076"/>
            <a:ext cx="4188333" cy="2924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7" name="Google Shape;147;p25"/>
          <p:cNvSpPr>
            <a:spLocks noGrp="1"/>
          </p:cNvSpPr>
          <p:nvPr>
            <p:ph type="pic" idx="3"/>
          </p:nvPr>
        </p:nvSpPr>
        <p:spPr>
          <a:xfrm>
            <a:off x="4638677" y="1771077"/>
            <a:ext cx="4180392" cy="2924750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25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4"/>
          </p:nvPr>
        </p:nvSpPr>
        <p:spPr>
          <a:xfrm>
            <a:off x="311161" y="684430"/>
            <a:ext cx="8508999" cy="32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360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ei Inhalte + Text (Hintergrund)">
  <p:cSld name="Zwei Inhalte + Text (Hintergrund)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6"/>
          <p:cNvSpPr/>
          <p:nvPr/>
        </p:nvSpPr>
        <p:spPr>
          <a:xfrm>
            <a:off x="0" y="2152650"/>
            <a:ext cx="9144000" cy="299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26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53" name="Google Shape;153;p26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6"/>
          <p:cNvSpPr txBox="1">
            <a:spLocks noGrp="1"/>
          </p:cNvSpPr>
          <p:nvPr>
            <p:ph type="body" idx="1"/>
          </p:nvPr>
        </p:nvSpPr>
        <p:spPr>
          <a:xfrm>
            <a:off x="316992" y="1771076"/>
            <a:ext cx="4197858" cy="2934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5" name="Google Shape;155;p26"/>
          <p:cNvSpPr>
            <a:spLocks noGrp="1"/>
          </p:cNvSpPr>
          <p:nvPr>
            <p:ph type="pic" idx="2"/>
          </p:nvPr>
        </p:nvSpPr>
        <p:spPr>
          <a:xfrm>
            <a:off x="4648200" y="1771076"/>
            <a:ext cx="4180392" cy="2915225"/>
          </a:xfrm>
          <a:prstGeom prst="rect">
            <a:avLst/>
          </a:prstGeom>
          <a:noFill/>
          <a:ln>
            <a:noFill/>
          </a:ln>
        </p:spPr>
      </p:sp>
      <p:sp>
        <p:nvSpPr>
          <p:cNvPr id="156" name="Google Shape;156;p26"/>
          <p:cNvSpPr txBox="1">
            <a:spLocks noGrp="1"/>
          </p:cNvSpPr>
          <p:nvPr>
            <p:ph type="body" idx="3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8" name="Google Shape;158;p26"/>
          <p:cNvSpPr txBox="1">
            <a:spLocks noGrp="1"/>
          </p:cNvSpPr>
          <p:nvPr>
            <p:ph type="body" idx="4"/>
          </p:nvPr>
        </p:nvSpPr>
        <p:spPr>
          <a:xfrm>
            <a:off x="311161" y="684430"/>
            <a:ext cx="8508999" cy="32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360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oße Bilder">
  <p:cSld name="große Bilder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7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7"/>
          <p:cNvSpPr>
            <a:spLocks noGrp="1"/>
          </p:cNvSpPr>
          <p:nvPr>
            <p:ph type="pic" idx="2"/>
          </p:nvPr>
        </p:nvSpPr>
        <p:spPr>
          <a:xfrm>
            <a:off x="0" y="1771076"/>
            <a:ext cx="9144000" cy="3367344"/>
          </a:xfrm>
          <a:prstGeom prst="rect">
            <a:avLst/>
          </a:prstGeom>
          <a:noFill/>
          <a:ln>
            <a:noFill/>
          </a:ln>
        </p:spPr>
      </p:sp>
      <p:sp>
        <p:nvSpPr>
          <p:cNvPr id="163" name="Google Shape;163;p27"/>
          <p:cNvSpPr txBox="1">
            <a:spLocks noGrp="1"/>
          </p:cNvSpPr>
          <p:nvPr>
            <p:ph type="body" idx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body" idx="3"/>
          </p:nvPr>
        </p:nvSpPr>
        <p:spPr>
          <a:xfrm>
            <a:off x="311161" y="684430"/>
            <a:ext cx="8508999" cy="32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360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lder formatfüllend">
  <p:cSld name="Bilder formatfüllend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8"/>
          <p:cNvSpPr>
            <a:spLocks noGrp="1"/>
          </p:cNvSpPr>
          <p:nvPr>
            <p:ph type="pic" idx="2"/>
          </p:nvPr>
        </p:nvSpPr>
        <p:spPr>
          <a:xfrm>
            <a:off x="0" y="1222524"/>
            <a:ext cx="9144000" cy="3920975"/>
          </a:xfrm>
          <a:prstGeom prst="rect">
            <a:avLst/>
          </a:prstGeom>
          <a:noFill/>
          <a:ln>
            <a:noFill/>
          </a:ln>
        </p:spPr>
      </p:sp>
      <p:sp>
        <p:nvSpPr>
          <p:cNvPr id="168" name="Google Shape;168;p28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69" name="Google Shape;169;p28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28"/>
          <p:cNvSpPr txBox="1">
            <a:spLocks noGrp="1"/>
          </p:cNvSpPr>
          <p:nvPr>
            <p:ph type="title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1" name="Google Shape;171;p28"/>
          <p:cNvSpPr txBox="1">
            <a:spLocks noGrp="1"/>
          </p:cNvSpPr>
          <p:nvPr>
            <p:ph type="body" idx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360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16" Type="http://schemas.openxmlformats.org/officeDocument/2006/relationships/theme" Target="../theme/theme4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2" name="Google Shape;12;p1" descr="20150416 tum logo blau png final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218411" y="324000"/>
            <a:ext cx="604774" cy="31851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1"/>
          <p:cNvSpPr txBox="1"/>
          <p:nvPr/>
        </p:nvSpPr>
        <p:spPr>
          <a:xfrm>
            <a:off x="319506" y="321468"/>
            <a:ext cx="7160425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Chair of High-Power Converter Systems</a:t>
            </a:r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TUM School of Engineering and Design</a:t>
            </a:r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Technical University of Munich</a:t>
            </a:r>
            <a:endParaRPr sz="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7829538" cy="288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pic>
        <p:nvPicPr>
          <p:cNvPr id="28" name="Google Shape;28;p4" descr="20150416 tum logo blau png final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218800" y="324000"/>
            <a:ext cx="604774" cy="318516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76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/>
        </p:nvSpPr>
        <p:spPr>
          <a:xfrm>
            <a:off x="7713330" y="4922462"/>
            <a:ext cx="1115376" cy="210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‹Nr.›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" name="Google Shape;42;p7" descr="Fahnen_HG.jpg"/>
          <p:cNvPicPr preferRelativeResize="0"/>
          <p:nvPr/>
        </p:nvPicPr>
        <p:blipFill rotWithShape="1">
          <a:blip r:embed="rId4">
            <a:alphaModFix/>
          </a:blip>
          <a:srcRect l="398" t="14166" b="10833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7" descr="20150416 tum logo blau png final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218800" y="324000"/>
            <a:ext cx="599513" cy="320288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0" descr="20150416 tum logo blau png final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8218411" y="324000"/>
            <a:ext cx="604774" cy="318516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ftr" idx="11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5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  <p:sldLayoutId id="2147483669" r:id="rId13"/>
    <p:sldLayoutId id="2147483670" r:id="rId14"/>
    <p:sldLayoutId id="2147483671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together.ai/" TargetMode="Externa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9" descr="TUM_Glockenturm.tif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75215" y="1476375"/>
            <a:ext cx="3819542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9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83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Human-</a:t>
            </a:r>
            <a:r>
              <a:rPr lang="de-DE" dirty="0" err="1"/>
              <a:t>Centered</a:t>
            </a:r>
            <a:r>
              <a:rPr lang="de-DE" dirty="0"/>
              <a:t> Computing: </a:t>
            </a:r>
            <a:r>
              <a:rPr lang="de-DE" dirty="0" err="1"/>
              <a:t>applications</a:t>
            </a:r>
            <a:r>
              <a:rPr lang="de-DE" dirty="0"/>
              <a:t> in </a:t>
            </a:r>
            <a:r>
              <a:rPr lang="de-DE" dirty="0" err="1"/>
              <a:t>natural</a:t>
            </a:r>
            <a:r>
              <a:rPr lang="de-DE" dirty="0"/>
              <a:t>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processing</a:t>
            </a:r>
            <a:r>
              <a:rPr lang="de-DE" dirty="0"/>
              <a:t>, network </a:t>
            </a:r>
            <a:r>
              <a:rPr lang="de-DE" dirty="0" err="1"/>
              <a:t>science</a:t>
            </a:r>
            <a:r>
              <a:rPr lang="de-DE" dirty="0"/>
              <a:t>, </a:t>
            </a:r>
            <a:r>
              <a:rPr lang="de-DE" dirty="0" err="1"/>
              <a:t>machine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, and AI (IN0012, IN2106, IN4906_8)</a:t>
            </a:r>
            <a:endParaRPr dirty="0"/>
          </a:p>
        </p:txBody>
      </p:sp>
      <p:sp>
        <p:nvSpPr>
          <p:cNvPr id="179" name="Google Shape;179;p29"/>
          <p:cNvSpPr txBox="1">
            <a:spLocks noGrp="1"/>
          </p:cNvSpPr>
          <p:nvPr>
            <p:ph type="body" idx="1"/>
          </p:nvPr>
        </p:nvSpPr>
        <p:spPr>
          <a:xfrm>
            <a:off x="319100" y="3150675"/>
            <a:ext cx="3819600" cy="13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sz="2400"/>
              <a:t>CLARITY</a:t>
            </a:r>
            <a:endParaRPr sz="2400"/>
          </a:p>
          <a:p>
            <a:pPr marL="0" lvl="0" indent="0" algn="l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sz="2400"/>
              <a:t>Unmasking Political Question Evasions</a:t>
            </a:r>
            <a:endParaRPr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0" y="0"/>
            <a:ext cx="9144000" cy="5143498"/>
          </a:xfrm>
          <a:prstGeom prst="rect">
            <a:avLst/>
          </a:prstGeom>
        </p:spPr>
      </p:pic>
      <p:sp>
        <p:nvSpPr>
          <p:cNvPr id="14" name="textbox 14"/>
          <p:cNvSpPr/>
          <p:nvPr/>
        </p:nvSpPr>
        <p:spPr>
          <a:xfrm>
            <a:off x="330956" y="1094429"/>
            <a:ext cx="4357370" cy="8197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22225" algn="l" rtl="0" eaLnBrk="0">
              <a:lnSpc>
                <a:spcPct val="81000"/>
              </a:lnSpc>
            </a:pPr>
            <a:r>
              <a:rPr sz="2400" kern="0" spc="3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r>
              <a:rPr lang="en-US" sz="2400" kern="0" spc="3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</a:t>
            </a:r>
            <a:r>
              <a:rPr sz="2400" kern="0" spc="3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sz="2400" kern="0" spc="30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400" kern="0" spc="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November</a:t>
            </a:r>
            <a:r>
              <a:rPr sz="2400" kern="0" spc="3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2025</a:t>
            </a:r>
            <a:endParaRPr sz="24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3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1000"/>
              </a:lnSpc>
              <a:spcBef>
                <a:spcPts val="0"/>
              </a:spcBef>
            </a:pPr>
            <a:endParaRPr sz="2400" kern="0" spc="30" dirty="0">
              <a:solidFill>
                <a:srgbClr val="FFFFFF">
                  <a:alpha val="100000"/>
                </a:srgbClr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1000"/>
              </a:lnSpc>
              <a:spcBef>
                <a:spcPts val="0"/>
              </a:spcBef>
            </a:pPr>
            <a:r>
              <a:rPr sz="2400" kern="0" spc="3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Dataset - Generati</a:t>
            </a:r>
            <a:r>
              <a:rPr sz="2400" kern="0" spc="2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ng</a:t>
            </a:r>
            <a:r>
              <a:rPr sz="2400" kern="0" spc="12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400" kern="0" spc="20" dirty="0">
                <a:solidFill>
                  <a:srgbClr val="FFFFFF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Summary</a:t>
            </a:r>
            <a:endParaRPr sz="2400" dirty="0"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8"/>
          <p:cNvSpPr/>
          <p:nvPr/>
        </p:nvSpPr>
        <p:spPr>
          <a:xfrm>
            <a:off x="323019" y="427574"/>
            <a:ext cx="3604895" cy="32321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2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1000"/>
              </a:lnSpc>
            </a:pPr>
            <a:r>
              <a:rPr sz="2400" kern="0" spc="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Dataset</a:t>
            </a:r>
            <a:r>
              <a:rPr sz="2400" kern="0" spc="17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400" kern="0" spc="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Tweaking</a:t>
            </a:r>
            <a:r>
              <a:rPr sz="2400" kern="0" spc="17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-</a:t>
            </a:r>
            <a:r>
              <a:rPr sz="2400" kern="0" spc="15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2400" kern="0" spc="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Steps</a:t>
            </a:r>
            <a:endParaRPr sz="2400" dirty="0"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8220075" y="323850"/>
            <a:ext cx="600075" cy="314325"/>
          </a:xfrm>
          <a:prstGeom prst="rect">
            <a:avLst/>
          </a:prstGeom>
        </p:spPr>
      </p:pic>
      <p:sp>
        <p:nvSpPr>
          <p:cNvPr id="22" name="textbox 22"/>
          <p:cNvSpPr/>
          <p:nvPr/>
        </p:nvSpPr>
        <p:spPr>
          <a:xfrm>
            <a:off x="8750595" y="4933892"/>
            <a:ext cx="99060" cy="1600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0000"/>
              </a:lnSpc>
            </a:pPr>
            <a:r>
              <a:rPr sz="1100" kern="0" spc="-2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endParaRPr sz="1100" dirty="0"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8" name="Google Shape;198;p32"/>
          <p:cNvSpPr txBox="1"/>
          <p:nvPr/>
        </p:nvSpPr>
        <p:spPr>
          <a:xfrm>
            <a:off x="323215" y="976630"/>
            <a:ext cx="4083050" cy="32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This </a:t>
            </a:r>
            <a:r>
              <a:rPr lang="de-DE" dirty="0" err="1">
                <a:latin typeface="+mn-lt"/>
              </a:rPr>
              <a:t>approach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allows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creating</a:t>
            </a:r>
            <a:r>
              <a:rPr lang="de-DE" dirty="0">
                <a:latin typeface="+mn-lt"/>
              </a:rPr>
              <a:t> </a:t>
            </a:r>
            <a:r>
              <a:rPr lang="en-US" altLang="de-DE" dirty="0">
                <a:latin typeface="+mn-lt"/>
              </a:rPr>
              <a:t>different </a:t>
            </a:r>
            <a:r>
              <a:rPr lang="de-DE" dirty="0" err="1">
                <a:latin typeface="+mn-lt"/>
              </a:rPr>
              <a:t>combination</a:t>
            </a:r>
            <a:r>
              <a:rPr lang="en-US" altLang="de-DE" dirty="0">
                <a:latin typeface="+mn-lt"/>
              </a:rPr>
              <a:t>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of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dataset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tweaks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based</a:t>
            </a:r>
            <a:r>
              <a:rPr lang="de-DE" dirty="0">
                <a:latin typeface="+mn-lt"/>
              </a:rPr>
              <a:t> on </a:t>
            </a:r>
            <a:r>
              <a:rPr lang="de-DE" dirty="0" err="1">
                <a:latin typeface="+mn-lt"/>
              </a:rPr>
              <a:t>passed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flags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to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our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app</a:t>
            </a:r>
            <a:r>
              <a:rPr lang="de-DE" dirty="0">
                <a:latin typeface="+mn-lt"/>
              </a:rPr>
              <a:t>.</a:t>
            </a:r>
          </a:p>
          <a:p>
            <a:pPr lvl="0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endParaRPr lang="de-DE" dirty="0">
              <a:latin typeface="+mn-lt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 dirty="0">
                <a:latin typeface="+mn-lt"/>
              </a:rPr>
              <a:t>Cleaning: Fillers, Names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 dirty="0">
                <a:latin typeface="+mn-lt"/>
              </a:rPr>
              <a:t>Summary: BERT, BART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920" y="661035"/>
            <a:ext cx="3824605" cy="42538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8"/>
          <p:cNvSpPr/>
          <p:nvPr/>
        </p:nvSpPr>
        <p:spPr>
          <a:xfrm>
            <a:off x="367469" y="427574"/>
            <a:ext cx="3604895" cy="32321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2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1000"/>
              </a:lnSpc>
            </a:pPr>
            <a:r>
              <a:rPr lang="en-US" sz="2400" kern="0" spc="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Model Selection</a:t>
            </a:r>
            <a:endParaRPr lang="en-US" sz="2400" dirty="0"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8220075" y="323850"/>
            <a:ext cx="600075" cy="314325"/>
          </a:xfrm>
          <a:prstGeom prst="rect">
            <a:avLst/>
          </a:prstGeom>
        </p:spPr>
      </p:pic>
      <p:sp>
        <p:nvSpPr>
          <p:cNvPr id="22" name="textbox 22"/>
          <p:cNvSpPr/>
          <p:nvPr/>
        </p:nvSpPr>
        <p:spPr>
          <a:xfrm>
            <a:off x="8750595" y="4933892"/>
            <a:ext cx="99060" cy="1600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0000"/>
              </a:lnSpc>
            </a:pPr>
            <a:r>
              <a:rPr lang="en-US" sz="1100" dirty="0">
                <a:latin typeface="Arial" panose="020B0604020202020204"/>
                <a:ea typeface="Arial" panose="020B0604020202020204"/>
                <a:cs typeface="Arial" panose="020B0604020202020204"/>
              </a:rPr>
              <a:t>4</a:t>
            </a:r>
          </a:p>
        </p:txBody>
      </p:sp>
      <p:sp>
        <p:nvSpPr>
          <p:cNvPr id="198" name="Google Shape;198;p32"/>
          <p:cNvSpPr txBox="1"/>
          <p:nvPr/>
        </p:nvSpPr>
        <p:spPr>
          <a:xfrm>
            <a:off x="323215" y="1619250"/>
            <a:ext cx="4083050" cy="463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2400" kern="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Pipeline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455930" y="2333625"/>
            <a:ext cx="535241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/>
              <a:t>Read </a:t>
            </a:r>
            <a:r>
              <a:rPr lang="en-US" altLang="zh-CN" i="1"/>
              <a:t>context_clean</a:t>
            </a:r>
          </a:p>
          <a:p>
            <a:pPr marL="342900" indent="-342900">
              <a:buAutoNum type="arabicPeriod"/>
            </a:pPr>
            <a:endParaRPr lang="en-US" altLang="zh-CN" i="1"/>
          </a:p>
          <a:p>
            <a:pPr marL="342900" indent="-342900">
              <a:buAutoNum type="arabicPeriod"/>
            </a:pPr>
            <a:r>
              <a:rPr lang="en-US" altLang="zh-CN"/>
              <a:t>Use BERT + MMR to select key sentences</a:t>
            </a:r>
          </a:p>
          <a:p>
            <a:pPr marL="342900" indent="-342900">
              <a:buAutoNum type="arabicPeriod"/>
            </a:pPr>
            <a:endParaRPr lang="en-US" altLang="zh-CN"/>
          </a:p>
          <a:p>
            <a:pPr marL="342900" indent="-342900">
              <a:buAutoNum type="arabicPeriod"/>
            </a:pPr>
            <a:r>
              <a:rPr lang="en-US" altLang="zh-CN"/>
              <a:t>Feed the text to BART for summarization</a:t>
            </a:r>
          </a:p>
          <a:p>
            <a:pPr marL="342900" indent="-342900">
              <a:buAutoNum type="arabicPeriod"/>
            </a:pPr>
            <a:endParaRPr lang="en-US" altLang="zh-CN"/>
          </a:p>
          <a:p>
            <a:pPr marL="342900" indent="-342900">
              <a:buAutoNum type="arabicPeriod"/>
            </a:pPr>
            <a:r>
              <a:rPr lang="en-US" altLang="zh-CN"/>
              <a:t>Store as </a:t>
            </a:r>
            <a:r>
              <a:rPr lang="en-US" altLang="zh-CN" i="1"/>
              <a:t>summary_bart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455930" y="847725"/>
            <a:ext cx="5448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facebook/bart-large-cnn</a:t>
            </a:r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8"/>
          <p:cNvSpPr/>
          <p:nvPr/>
        </p:nvSpPr>
        <p:spPr>
          <a:xfrm>
            <a:off x="323019" y="427574"/>
            <a:ext cx="3604895" cy="32321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2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1000"/>
              </a:lnSpc>
            </a:pPr>
            <a:r>
              <a:rPr lang="en-US" sz="2400" kern="0" spc="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Key Sentences &amp; MMR</a:t>
            </a:r>
            <a:endParaRPr lang="en-US" sz="2400" dirty="0"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8220075" y="323850"/>
            <a:ext cx="600075" cy="314325"/>
          </a:xfrm>
          <a:prstGeom prst="rect">
            <a:avLst/>
          </a:prstGeom>
        </p:spPr>
      </p:pic>
      <p:sp>
        <p:nvSpPr>
          <p:cNvPr id="22" name="textbox 22"/>
          <p:cNvSpPr/>
          <p:nvPr/>
        </p:nvSpPr>
        <p:spPr>
          <a:xfrm>
            <a:off x="8750595" y="4933892"/>
            <a:ext cx="99060" cy="1600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0000"/>
              </a:lnSpc>
            </a:pPr>
            <a:r>
              <a:rPr lang="en-US" sz="1100" dirty="0">
                <a:latin typeface="Arial" panose="020B0604020202020204"/>
                <a:ea typeface="Arial" panose="020B0604020202020204"/>
                <a:cs typeface="Arial" panose="020B0604020202020204"/>
              </a:rPr>
              <a:t>5</a:t>
            </a:r>
          </a:p>
        </p:txBody>
      </p:sp>
      <p:sp>
        <p:nvSpPr>
          <p:cNvPr id="198" name="Google Shape;198;p32"/>
          <p:cNvSpPr txBox="1"/>
          <p:nvPr/>
        </p:nvSpPr>
        <p:spPr>
          <a:xfrm>
            <a:off x="323215" y="976630"/>
            <a:ext cx="4083050" cy="32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/>
              <a:t>Split long context on puncutation with cos similarity helper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de-DE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/>
              <a:t>Use BERT to pick sentences which are both representive and non-redundant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9105" y="1118235"/>
            <a:ext cx="4624705" cy="29070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8"/>
          <p:cNvSpPr/>
          <p:nvPr/>
        </p:nvSpPr>
        <p:spPr>
          <a:xfrm>
            <a:off x="323019" y="427574"/>
            <a:ext cx="3604895" cy="32321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2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1000"/>
              </a:lnSpc>
            </a:pPr>
            <a:r>
              <a:rPr lang="en-US" sz="2400" dirty="0">
                <a:latin typeface="Arial" panose="020B0604020202020204"/>
                <a:ea typeface="Arial" panose="020B0604020202020204"/>
                <a:cs typeface="Arial" panose="020B0604020202020204"/>
              </a:rPr>
              <a:t>Summarization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8220075" y="323850"/>
            <a:ext cx="600075" cy="314325"/>
          </a:xfrm>
          <a:prstGeom prst="rect">
            <a:avLst/>
          </a:prstGeom>
        </p:spPr>
      </p:pic>
      <p:sp>
        <p:nvSpPr>
          <p:cNvPr id="22" name="textbox 22"/>
          <p:cNvSpPr/>
          <p:nvPr/>
        </p:nvSpPr>
        <p:spPr>
          <a:xfrm>
            <a:off x="8750595" y="4933892"/>
            <a:ext cx="99060" cy="1600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0000"/>
              </a:lnSpc>
            </a:pPr>
            <a:r>
              <a:rPr lang="en-US" sz="1100" dirty="0">
                <a:latin typeface="Arial" panose="020B0604020202020204"/>
                <a:ea typeface="Arial" panose="020B0604020202020204"/>
                <a:cs typeface="Arial" panose="020B0604020202020204"/>
              </a:rPr>
              <a:t>6</a:t>
            </a:r>
          </a:p>
        </p:txBody>
      </p:sp>
      <p:sp>
        <p:nvSpPr>
          <p:cNvPr id="198" name="Google Shape;198;p32"/>
          <p:cNvSpPr txBox="1"/>
          <p:nvPr/>
        </p:nvSpPr>
        <p:spPr>
          <a:xfrm>
            <a:off x="323215" y="976630"/>
            <a:ext cx="5859780" cy="32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/>
              <a:t>Token-based chunks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de-DE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/>
              <a:t>Long text -&gt; partial summaries -&gt; fianl summaries</a:t>
            </a:r>
          </a:p>
          <a:p>
            <a:pPr lvl="0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endParaRPr lang="en-US" altLang="de-DE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630" y="1996440"/>
            <a:ext cx="4794250" cy="293751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4248150" y="3971925"/>
            <a:ext cx="4248150" cy="4425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de-DE">
                <a:sym typeface="+mn-ea"/>
              </a:rPr>
              <a:t>*summarize each chunks and combine</a:t>
            </a:r>
            <a:endParaRPr lang="en-US" altLang="de-DE"/>
          </a:p>
          <a:p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8"/>
          <p:cNvSpPr/>
          <p:nvPr/>
        </p:nvSpPr>
        <p:spPr>
          <a:xfrm>
            <a:off x="323215" y="427355"/>
            <a:ext cx="4328160" cy="32321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2000"/>
              </a:lnSpc>
            </a:pPr>
            <a:r>
              <a:rPr lang="en-US" sz="2400" dirty="0">
                <a:latin typeface="Arial" panose="020B0604020202020204"/>
                <a:ea typeface="Arial" panose="020B0604020202020204"/>
                <a:cs typeface="Arial" panose="020B0604020202020204"/>
              </a:rPr>
              <a:t>Public Entry Point &amp; Sample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8220075" y="323850"/>
            <a:ext cx="600075" cy="314325"/>
          </a:xfrm>
          <a:prstGeom prst="rect">
            <a:avLst/>
          </a:prstGeom>
        </p:spPr>
      </p:pic>
      <p:sp>
        <p:nvSpPr>
          <p:cNvPr id="22" name="textbox 22"/>
          <p:cNvSpPr/>
          <p:nvPr/>
        </p:nvSpPr>
        <p:spPr>
          <a:xfrm>
            <a:off x="8750595" y="4933892"/>
            <a:ext cx="99060" cy="1600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0000"/>
              </a:lnSpc>
            </a:pPr>
            <a:r>
              <a:rPr lang="en-US" sz="1100" dirty="0">
                <a:latin typeface="Arial" panose="020B0604020202020204"/>
                <a:ea typeface="Arial" panose="020B0604020202020204"/>
                <a:cs typeface="Arial" panose="020B0604020202020204"/>
              </a:rPr>
              <a:t>7</a:t>
            </a:r>
          </a:p>
        </p:txBody>
      </p:sp>
      <p:sp>
        <p:nvSpPr>
          <p:cNvPr id="198" name="Google Shape;198;p32"/>
          <p:cNvSpPr txBox="1"/>
          <p:nvPr/>
        </p:nvSpPr>
        <p:spPr>
          <a:xfrm>
            <a:off x="323215" y="976630"/>
            <a:ext cx="4083050" cy="32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/>
              <a:t>Receive data, handling the context in </a:t>
            </a:r>
            <a:r>
              <a:rPr lang="en-US" altLang="de-DE" i="1"/>
              <a:t>context_clean </a:t>
            </a:r>
            <a:r>
              <a:rPr lang="en-US" altLang="de-DE"/>
              <a:t>column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de-DE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/>
              <a:t>Generate summaries, storing as </a:t>
            </a:r>
            <a:r>
              <a:rPr lang="en-US" altLang="de-DE" i="1"/>
              <a:t>summary_bart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1375" y="1099185"/>
            <a:ext cx="3508375" cy="200533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15" y="2576195"/>
            <a:ext cx="3388360" cy="162623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915" y="4428490"/>
            <a:ext cx="8839200" cy="2374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8"/>
          <p:cNvSpPr/>
          <p:nvPr/>
        </p:nvSpPr>
        <p:spPr>
          <a:xfrm>
            <a:off x="323215" y="427355"/>
            <a:ext cx="4328160" cy="32321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2000"/>
              </a:lnSpc>
            </a:pPr>
            <a:r>
              <a:rPr lang="en-US" sz="2400" dirty="0">
                <a:latin typeface="Arial" panose="020B0604020202020204"/>
                <a:ea typeface="Arial" panose="020B0604020202020204"/>
                <a:cs typeface="Arial" panose="020B0604020202020204"/>
              </a:rPr>
              <a:t>Next Steps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8220075" y="323850"/>
            <a:ext cx="600075" cy="314325"/>
          </a:xfrm>
          <a:prstGeom prst="rect">
            <a:avLst/>
          </a:prstGeom>
        </p:spPr>
      </p:pic>
      <p:sp>
        <p:nvSpPr>
          <p:cNvPr id="22" name="textbox 22"/>
          <p:cNvSpPr/>
          <p:nvPr/>
        </p:nvSpPr>
        <p:spPr>
          <a:xfrm>
            <a:off x="8750595" y="4933892"/>
            <a:ext cx="99060" cy="1600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0000"/>
              </a:lnSpc>
            </a:pPr>
            <a:r>
              <a:rPr lang="en-US" sz="1100" dirty="0">
                <a:latin typeface="Arial" panose="020B0604020202020204"/>
                <a:ea typeface="Arial" panose="020B0604020202020204"/>
                <a:cs typeface="Arial" panose="020B0604020202020204"/>
              </a:rPr>
              <a:t>8</a:t>
            </a:r>
          </a:p>
        </p:txBody>
      </p:sp>
      <p:sp>
        <p:nvSpPr>
          <p:cNvPr id="198" name="Google Shape;198;p32"/>
          <p:cNvSpPr txBox="1"/>
          <p:nvPr/>
        </p:nvSpPr>
        <p:spPr>
          <a:xfrm>
            <a:off x="323215" y="976630"/>
            <a:ext cx="6781800" cy="32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altLang="de-DE" dirty="0"/>
              <a:t>Optimization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 dirty="0"/>
              <a:t>Length of the summaries (40% - 60% of origin?)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de-DE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 dirty="0"/>
              <a:t>Improvement to Speed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de-DE" dirty="0"/>
          </a:p>
          <a:p>
            <a:pPr lvl="0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endParaRPr lang="en-US" altLang="de-DE" dirty="0"/>
          </a:p>
          <a:p>
            <a:pPr lvl="0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altLang="de-DE" dirty="0"/>
              <a:t>Need to be </a:t>
            </a:r>
            <a:r>
              <a:rPr lang="en-US" altLang="de-DE" dirty="0" err="1"/>
              <a:t>dicussed</a:t>
            </a:r>
            <a:r>
              <a:rPr lang="en-US" altLang="de-DE" dirty="0"/>
              <a:t>...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de-DE" dirty="0"/>
              <a:t>re-rank BART candidates using BERT cos scores</a:t>
            </a:r>
          </a:p>
          <a:p>
            <a:pPr lvl="0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altLang="de-DE" dirty="0"/>
              <a:t>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>
            <a:spLocks noGrp="1"/>
          </p:cNvSpPr>
          <p:nvPr>
            <p:ph type="title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18. November 2025</a:t>
            </a:r>
            <a:br>
              <a:rPr lang="de-DE" dirty="0"/>
            </a:br>
            <a:r>
              <a:rPr lang="de-DE" dirty="0"/>
              <a:t>Pipeline &amp; Initial Experiments</a:t>
            </a:r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4E43718-0E33-7290-D44F-716198C07E8D}"/>
              </a:ext>
            </a:extLst>
          </p:cNvPr>
          <p:cNvSpPr txBox="1"/>
          <p:nvPr/>
        </p:nvSpPr>
        <p:spPr>
          <a:xfrm>
            <a:off x="3136392" y="1225296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7D7850B-F176-145A-3A72-6C6EF3998D4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10</a:t>
            </a:fld>
            <a:endParaRPr lang="de-DE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FBB0468-1F18-1B62-5D6B-22BB28AD2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/>
              <a:t>Classification Model </a:t>
            </a:r>
            <a:r>
              <a:rPr lang="de-DE" err="1"/>
              <a:t>Types</a:t>
            </a:r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A803D50-2237-D3EE-853D-1FA1B85824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233" y="1222525"/>
            <a:ext cx="6335534" cy="3489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131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069209D-8298-371F-5D8C-31181A1A9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sz="1100" b="1" dirty="0">
                <a:solidFill>
                  <a:schemeClr val="tx2"/>
                </a:solidFill>
                <a:latin typeface="+mn-lt"/>
              </a:rPr>
              <a:t>Core Idea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convert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both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 </a:t>
            </a:r>
            <a:r>
              <a:rPr lang="de-DE" altLang="de-DE" sz="1100" i="1" dirty="0" err="1">
                <a:solidFill>
                  <a:srgbClr val="000000"/>
                </a:solidFill>
                <a:latin typeface="+mn-lt"/>
              </a:rPr>
              <a:t>question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 and </a:t>
            </a:r>
            <a:r>
              <a:rPr lang="de-DE" altLang="de-DE" sz="1100" i="1" dirty="0" err="1">
                <a:solidFill>
                  <a:srgbClr val="000000"/>
                </a:solidFill>
                <a:latin typeface="+mn-lt"/>
              </a:rPr>
              <a:t>answer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 </a:t>
            </a:r>
            <a:r>
              <a:rPr lang="de-DE" altLang="de-DE" sz="1100" b="1" dirty="0" err="1">
                <a:solidFill>
                  <a:srgbClr val="000000"/>
                </a:solidFill>
                <a:latin typeface="+mn-lt"/>
              </a:rPr>
              <a:t>into</a:t>
            </a:r>
            <a:r>
              <a:rPr lang="de-DE" altLang="de-DE" sz="1100" b="1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b="1" dirty="0" err="1">
                <a:solidFill>
                  <a:srgbClr val="000000"/>
                </a:solidFill>
                <a:latin typeface="+mn-lt"/>
              </a:rPr>
              <a:t>contextual</a:t>
            </a:r>
            <a:r>
              <a:rPr lang="de-DE" altLang="de-DE" sz="1100" b="1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b="1" dirty="0" err="1">
                <a:solidFill>
                  <a:srgbClr val="000000"/>
                </a:solidFill>
                <a:latin typeface="+mn-lt"/>
              </a:rPr>
              <a:t>embeddings</a:t>
            </a:r>
            <a:r>
              <a:rPr lang="de-DE" altLang="de-DE" sz="1100" b="1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and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then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predict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one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of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clarity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classes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based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on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their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joint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representation</a:t>
            </a:r>
            <a:endParaRPr lang="de-DE" altLang="de-DE" sz="1100" dirty="0">
              <a:solidFill>
                <a:srgbClr val="000000"/>
              </a:solidFill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Typical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b="1" dirty="0">
                <a:solidFill>
                  <a:schemeClr val="tx2"/>
                </a:solidFill>
                <a:latin typeface="+mn-lt"/>
              </a:rPr>
              <a:t>Models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: </a:t>
            </a:r>
            <a:r>
              <a:rPr lang="de-DE" sz="1100" i="1" dirty="0" err="1">
                <a:latin typeface="+mn-lt"/>
              </a:rPr>
              <a:t>roberta</a:t>
            </a:r>
            <a:r>
              <a:rPr lang="de-DE" sz="1100" i="1" dirty="0">
                <a:latin typeface="+mn-lt"/>
              </a:rPr>
              <a:t>, </a:t>
            </a:r>
            <a:r>
              <a:rPr lang="de-DE" sz="1100" i="1" dirty="0" err="1">
                <a:latin typeface="+mn-lt"/>
              </a:rPr>
              <a:t>deberta</a:t>
            </a:r>
            <a:r>
              <a:rPr lang="de-DE" sz="1100" i="1" dirty="0">
                <a:latin typeface="+mn-lt"/>
              </a:rPr>
              <a:t>, </a:t>
            </a:r>
            <a:r>
              <a:rPr lang="de-DE" sz="1100" i="1" dirty="0" err="1">
                <a:latin typeface="+mn-lt"/>
              </a:rPr>
              <a:t>distilroberta</a:t>
            </a:r>
            <a:endParaRPr lang="de-DE" altLang="de-DE" sz="1100" i="1" dirty="0">
              <a:solidFill>
                <a:srgbClr val="000000"/>
              </a:solidFill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sz="1100" b="1" dirty="0">
                <a:solidFill>
                  <a:schemeClr val="tx2"/>
                </a:solidFill>
                <a:latin typeface="+mn-lt"/>
              </a:rPr>
              <a:t>Workflow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Both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question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and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answer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are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concatenated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into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one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input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sequence</a:t>
            </a:r>
            <a:endParaRPr lang="de-DE" altLang="de-DE" sz="1100" dirty="0">
              <a:solidFill>
                <a:srgbClr val="000000"/>
              </a:solidFill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encoder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reads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all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tokens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 </a:t>
            </a:r>
            <a:r>
              <a:rPr lang="de-DE" altLang="de-DE" sz="1100" i="1" dirty="0" err="1">
                <a:solidFill>
                  <a:srgbClr val="000000"/>
                </a:solidFill>
                <a:latin typeface="+mn-lt"/>
              </a:rPr>
              <a:t>bidirectionally</a:t>
            </a:r>
            <a:r>
              <a:rPr lang="de-DE" altLang="de-DE" sz="1100" i="1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The final [CLS] 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vector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represents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combined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i="1" dirty="0" err="1">
                <a:solidFill>
                  <a:srgbClr val="000000"/>
                </a:solidFill>
                <a:latin typeface="+mn-lt"/>
              </a:rPr>
              <a:t>meaning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of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question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and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answer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A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small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classification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head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predicts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sz="11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100" dirty="0" err="1">
                <a:solidFill>
                  <a:srgbClr val="000000"/>
                </a:solidFill>
                <a:latin typeface="+mn-lt"/>
              </a:rPr>
              <a:t>label</a:t>
            </a:r>
            <a:endParaRPr lang="de-DE" altLang="de-DE" sz="1100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116853C-1BD5-424D-4647-17655D01E2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11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16202F9E-C3FB-F3D4-AC15-975FB0035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Encoder Models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489DC51-D42F-60A6-3B7B-CFAA6001E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400" y="3070417"/>
            <a:ext cx="7218522" cy="1615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891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F18E621-6860-9DE8-22C3-AC78CA873E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b="1" dirty="0">
                <a:solidFill>
                  <a:schemeClr val="tx2"/>
                </a:solidFill>
                <a:latin typeface="+mn-lt"/>
              </a:rPr>
              <a:t>Training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Fine-tuning </a:t>
            </a:r>
            <a:r>
              <a:rPr lang="de-DE" dirty="0" err="1">
                <a:latin typeface="+mn-lt"/>
              </a:rPr>
              <a:t>adjusts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pre-trained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weights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to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the</a:t>
            </a:r>
            <a:r>
              <a:rPr lang="de-DE" dirty="0">
                <a:latin typeface="+mn-lt"/>
              </a:rPr>
              <a:t> Clarity </a:t>
            </a:r>
            <a:r>
              <a:rPr lang="de-DE" dirty="0" err="1">
                <a:latin typeface="+mn-lt"/>
              </a:rPr>
              <a:t>labels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dirty="0" err="1">
                <a:solidFill>
                  <a:schemeClr val="tx1"/>
                </a:solidFill>
                <a:latin typeface="+mn-lt"/>
              </a:rPr>
              <a:t>Mainly</a:t>
            </a:r>
            <a:r>
              <a:rPr lang="de-DE" altLang="de-DE" dirty="0">
                <a:solidFill>
                  <a:schemeClr val="tx1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chemeClr val="tx1"/>
                </a:solidFill>
                <a:latin typeface="+mn-lt"/>
              </a:rPr>
              <a:t>the</a:t>
            </a:r>
            <a:r>
              <a:rPr lang="de-DE" altLang="de-DE" dirty="0">
                <a:solidFill>
                  <a:schemeClr val="tx1"/>
                </a:solidFill>
                <a:latin typeface="+mn-lt"/>
              </a:rPr>
              <a:t> </a:t>
            </a:r>
            <a:r>
              <a:rPr lang="de-DE" altLang="de-DE" i="1" dirty="0" err="1">
                <a:solidFill>
                  <a:schemeClr val="tx1"/>
                </a:solidFill>
                <a:latin typeface="+mn-lt"/>
              </a:rPr>
              <a:t>classification</a:t>
            </a:r>
            <a:r>
              <a:rPr lang="de-DE" altLang="de-DE" i="1" dirty="0">
                <a:solidFill>
                  <a:schemeClr val="tx1"/>
                </a:solidFill>
                <a:latin typeface="+mn-lt"/>
              </a:rPr>
              <a:t> </a:t>
            </a:r>
            <a:r>
              <a:rPr lang="de-DE" altLang="de-DE" i="1" dirty="0" err="1">
                <a:solidFill>
                  <a:schemeClr val="tx1"/>
                </a:solidFill>
                <a:latin typeface="+mn-lt"/>
              </a:rPr>
              <a:t>hea</a:t>
            </a:r>
            <a:r>
              <a:rPr lang="de-DE" altLang="de-DE" dirty="0" err="1">
                <a:solidFill>
                  <a:schemeClr val="tx1"/>
                </a:solidFill>
                <a:latin typeface="+mn-lt"/>
              </a:rPr>
              <a:t>d</a:t>
            </a:r>
            <a:r>
              <a:rPr lang="de-DE" altLang="de-DE" dirty="0">
                <a:solidFill>
                  <a:schemeClr val="tx1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chemeClr val="tx1"/>
                </a:solidFill>
                <a:latin typeface="+mn-lt"/>
              </a:rPr>
              <a:t>gets</a:t>
            </a:r>
            <a:r>
              <a:rPr lang="de-DE" altLang="de-DE" dirty="0">
                <a:solidFill>
                  <a:schemeClr val="tx1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chemeClr val="tx1"/>
                </a:solidFill>
                <a:latin typeface="+mn-lt"/>
              </a:rPr>
              <a:t>updated</a:t>
            </a:r>
            <a:endParaRPr lang="de-DE" altLang="de-DE" dirty="0">
              <a:solidFill>
                <a:schemeClr val="tx1"/>
              </a:solidFill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altLang="de-DE" b="1" dirty="0" err="1">
                <a:solidFill>
                  <a:schemeClr val="tx2"/>
                </a:solidFill>
                <a:latin typeface="+mn-lt"/>
              </a:rPr>
              <a:t>Weaknesses</a:t>
            </a:r>
            <a:r>
              <a:rPr lang="de-DE" altLang="de-DE" dirty="0">
                <a:solidFill>
                  <a:schemeClr val="tx1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chemeClr val="tx1"/>
                </a:solidFill>
                <a:latin typeface="+mn-lt"/>
              </a:rPr>
              <a:t>for</a:t>
            </a:r>
            <a:r>
              <a:rPr lang="de-DE" altLang="de-DE" dirty="0">
                <a:solidFill>
                  <a:schemeClr val="tx1"/>
                </a:solidFill>
                <a:latin typeface="+mn-lt"/>
              </a:rPr>
              <a:t> Task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Encoder-</a:t>
            </a:r>
            <a:r>
              <a:rPr lang="de-DE" dirty="0" err="1">
                <a:latin typeface="+mn-lt"/>
              </a:rPr>
              <a:t>only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models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learn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text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similarity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topic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alignment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response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patterns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The </a:t>
            </a:r>
            <a:r>
              <a:rPr lang="de-DE" dirty="0" err="1">
                <a:latin typeface="+mn-lt"/>
              </a:rPr>
              <a:t>models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have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no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deep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understanding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of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intention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context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or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relevance</a:t>
            </a:r>
            <a:r>
              <a:rPr lang="de-DE" dirty="0">
                <a:latin typeface="+mn-lt"/>
              </a:rPr>
              <a:t>. </a:t>
            </a:r>
            <a:r>
              <a:rPr lang="de-DE" dirty="0" err="1">
                <a:latin typeface="+mn-lt"/>
              </a:rPr>
              <a:t>They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recognize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correlations</a:t>
            </a:r>
            <a:r>
              <a:rPr lang="de-DE" dirty="0">
                <a:latin typeface="+mn-lt"/>
              </a:rPr>
              <a:t>, not </a:t>
            </a:r>
            <a:r>
              <a:rPr lang="de-DE" dirty="0" err="1">
                <a:latin typeface="+mn-lt"/>
              </a:rPr>
              <a:t>causality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Evasion </a:t>
            </a:r>
            <a:r>
              <a:rPr lang="de-DE" dirty="0" err="1">
                <a:latin typeface="+mn-lt"/>
              </a:rPr>
              <a:t>detection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is</a:t>
            </a:r>
            <a:r>
              <a:rPr lang="de-DE" dirty="0">
                <a:latin typeface="+mn-lt"/>
              </a:rPr>
              <a:t> not </a:t>
            </a:r>
            <a:r>
              <a:rPr lang="de-DE" dirty="0" err="1">
                <a:latin typeface="+mn-lt"/>
              </a:rPr>
              <a:t>the</a:t>
            </a:r>
            <a:r>
              <a:rPr lang="de-DE" dirty="0">
                <a:latin typeface="+mn-lt"/>
              </a:rPr>
              <a:t> same </a:t>
            </a:r>
            <a:r>
              <a:rPr lang="de-DE" dirty="0" err="1">
                <a:latin typeface="+mn-lt"/>
              </a:rPr>
              <a:t>as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semantic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matching</a:t>
            </a:r>
            <a:endParaRPr lang="de-DE" dirty="0">
              <a:latin typeface="+mn-lt"/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EBF72E4-B9D6-F656-CCD0-1518FFE8409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12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59EAC2B-0F69-F356-2E8E-407902625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Encoder Models</a:t>
            </a:r>
          </a:p>
        </p:txBody>
      </p:sp>
    </p:spTree>
    <p:extLst>
      <p:ext uri="{BB962C8B-B14F-4D97-AF65-F5344CB8AC3E}">
        <p14:creationId xmlns:p14="http://schemas.microsoft.com/office/powerpoint/2010/main" val="13232396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92502C47-132A-C547-5F09-910815B3A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9091" y="1222525"/>
            <a:ext cx="4481509" cy="3463775"/>
          </a:xfrm>
        </p:spPr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b="1" dirty="0">
                <a:latin typeface="+mn-lt"/>
              </a:rPr>
              <a:t>Python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submodule</a:t>
            </a:r>
            <a:r>
              <a:rPr lang="de-DE" dirty="0">
                <a:latin typeface="+mn-lt"/>
              </a:rPr>
              <a:t> in </a:t>
            </a:r>
            <a:r>
              <a:rPr lang="de-DE" dirty="0" err="1">
                <a:latin typeface="+mn-lt"/>
              </a:rPr>
              <a:t>repository</a:t>
            </a:r>
            <a:endParaRPr lang="de-DE" b="1" dirty="0">
              <a:solidFill>
                <a:schemeClr val="tx2"/>
              </a:solidFill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b="1" dirty="0" err="1">
                <a:solidFill>
                  <a:schemeClr val="tx2"/>
                </a:solidFill>
                <a:latin typeface="+mn-lt"/>
              </a:rPr>
              <a:t>clarity</a:t>
            </a:r>
            <a:r>
              <a:rPr lang="de-DE" b="1" dirty="0">
                <a:solidFill>
                  <a:schemeClr val="tx2"/>
                </a:solidFill>
                <a:latin typeface="+mn-lt"/>
              </a:rPr>
              <a:t>-models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altLang="de-DE" b="1" dirty="0" err="1">
                <a:solidFill>
                  <a:schemeClr val="tx1"/>
                </a:solidFill>
                <a:latin typeface="+mn-lt"/>
              </a:rPr>
              <a:t>Dependencies</a:t>
            </a:r>
            <a:endParaRPr lang="de-DE" altLang="de-DE" b="1" dirty="0">
              <a:solidFill>
                <a:schemeClr val="tx1"/>
              </a:solidFill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transformers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, 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torch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, 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fastapi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, 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uvicorn</a:t>
            </a:r>
            <a:endParaRPr lang="de-DE" altLang="de-DE" dirty="0">
              <a:solidFill>
                <a:srgbClr val="000000"/>
              </a:solidFill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sz="800" dirty="0" err="1">
                <a:latin typeface="+mn-lt"/>
              </a:rPr>
              <a:t>datasets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accelerate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loguru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peft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PyYAML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bitsandbytes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sentencepiece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tensorboard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openai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requests</a:t>
            </a:r>
            <a:r>
              <a:rPr lang="de-DE" sz="800" dirty="0">
                <a:latin typeface="+mn-lt"/>
              </a:rPr>
              <a:t>, </a:t>
            </a:r>
            <a:r>
              <a:rPr lang="de-DE" sz="800" dirty="0" err="1">
                <a:latin typeface="+mn-lt"/>
              </a:rPr>
              <a:t>scikit-learn</a:t>
            </a:r>
            <a:endParaRPr lang="de-DE" altLang="de-DE" sz="800" dirty="0">
              <a:solidFill>
                <a:schemeClr val="tx1"/>
              </a:solidFill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 err="1">
                <a:latin typeface="+mn-lt"/>
              </a:rPr>
              <a:t>Provides</a:t>
            </a:r>
            <a:r>
              <a:rPr lang="de-DE" dirty="0">
                <a:latin typeface="+mn-lt"/>
              </a:rPr>
              <a:t> a </a:t>
            </a:r>
            <a:r>
              <a:rPr lang="de-DE" b="1" dirty="0" err="1">
                <a:latin typeface="+mn-lt"/>
              </a:rPr>
              <a:t>configurable</a:t>
            </a:r>
            <a:r>
              <a:rPr lang="de-DE" b="1" dirty="0">
                <a:latin typeface="+mn-lt"/>
              </a:rPr>
              <a:t> </a:t>
            </a:r>
            <a:r>
              <a:rPr lang="de-DE" b="1" dirty="0" err="1">
                <a:latin typeface="+mn-lt"/>
              </a:rPr>
              <a:t>framework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for</a:t>
            </a:r>
            <a:r>
              <a:rPr lang="de-DE" dirty="0">
                <a:latin typeface="+mn-lt"/>
              </a:rPr>
              <a:t> </a:t>
            </a:r>
            <a:r>
              <a:rPr lang="de-DE" i="1" dirty="0" err="1">
                <a:latin typeface="+mn-lt"/>
              </a:rPr>
              <a:t>training</a:t>
            </a:r>
            <a:r>
              <a:rPr lang="de-DE" dirty="0">
                <a:latin typeface="+mn-lt"/>
              </a:rPr>
              <a:t> and </a:t>
            </a:r>
            <a:r>
              <a:rPr lang="de-DE" i="1" dirty="0" err="1">
                <a:latin typeface="+mn-lt"/>
              </a:rPr>
              <a:t>serving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classification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models</a:t>
            </a:r>
            <a:endParaRPr lang="de-DE" dirty="0"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Make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implementation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as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dynamic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as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possible in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order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to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train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models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with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different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settings</a:t>
            </a:r>
            <a:endParaRPr lang="de-DE" altLang="de-DE" dirty="0">
              <a:solidFill>
                <a:srgbClr val="000000"/>
              </a:solidFill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Define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model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configurations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in a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config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file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and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rest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is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dynamically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handled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by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framework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. 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340EB10-3DB3-3C6E-0A0F-E62D99F8F2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13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E7FA9E12-D765-6130-B392-A5CF0E0B1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Encoder Models - Implementation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1B56461B-2741-B335-FB15-A1365AD54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0651" y="1386265"/>
            <a:ext cx="2099033" cy="3463775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2D96782B-23CF-6444-EF4A-E89AAF28C9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369" y="941033"/>
            <a:ext cx="1571791" cy="391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2478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47C663F-F22D-69A8-2522-1E10A95178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14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8A44F8-DEB4-CA48-1C05-D62EBC8FC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Encoder Models - Implementation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44431BC-7CB4-7D63-8615-1A9AC1A18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26" y="1391478"/>
            <a:ext cx="8483467" cy="3108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3751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7805B9E8-8D6A-D48C-686D-BB438D9322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b="1" dirty="0">
                <a:solidFill>
                  <a:schemeClr val="tx2"/>
                </a:solidFill>
                <a:latin typeface="+mn-lt"/>
              </a:rPr>
              <a:t>Core Idea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b="1" dirty="0" err="1">
                <a:solidFill>
                  <a:srgbClr val="000000"/>
                </a:solidFill>
                <a:latin typeface="+mn-lt"/>
              </a:rPr>
              <a:t>LoRA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(Low-Rank Adaptation)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fine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-tuning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lets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you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teach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a large LLM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new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classification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behavior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 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without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 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updating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all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its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billions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of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parameters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altLang="de-DE" b="1" dirty="0">
                <a:solidFill>
                  <a:schemeClr val="tx2"/>
                </a:solidFill>
                <a:latin typeface="+mn-lt"/>
              </a:rPr>
              <a:t>Workflow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dirty="0">
                <a:solidFill>
                  <a:srgbClr val="000000"/>
                </a:solidFill>
                <a:latin typeface="+mn-lt"/>
              </a:rPr>
              <a:t>Start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from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a large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pre-trained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LLM (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decoder-based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, like GPT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or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Llama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) and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freeze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original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weights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Inject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small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trainable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adapter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matrices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to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attention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and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feed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-forward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layers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During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fine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-tuning,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only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those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adapters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are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updated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dirty="0">
                <a:solidFill>
                  <a:srgbClr val="000000"/>
                </a:solidFill>
                <a:latin typeface="+mn-lt"/>
              </a:rPr>
              <a:t>The LLM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learns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 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patterns</a:t>
            </a:r>
            <a:r>
              <a:rPr lang="de-DE" altLang="de-DE" i="1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within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QA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pairs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through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its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natural</a:t>
            </a:r>
            <a:r>
              <a:rPr lang="de-DE" altLang="de-DE" i="1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language</a:t>
            </a:r>
            <a:r>
              <a:rPr lang="de-DE" altLang="de-DE" i="1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reasoning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.</a:t>
            </a:r>
            <a:endParaRPr lang="de-DE" altLang="de-DE" dirty="0">
              <a:solidFill>
                <a:schemeClr val="tx1"/>
              </a:solidFill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b="1" dirty="0">
                <a:solidFill>
                  <a:schemeClr val="tx2"/>
                </a:solidFill>
                <a:latin typeface="+mn-lt"/>
              </a:rPr>
              <a:t>Training </a:t>
            </a:r>
            <a:r>
              <a:rPr lang="de-DE" b="1" dirty="0" err="1">
                <a:solidFill>
                  <a:schemeClr val="tx2"/>
                </a:solidFill>
                <a:latin typeface="+mn-lt"/>
              </a:rPr>
              <a:t>objective</a:t>
            </a:r>
            <a:endParaRPr lang="de-DE" b="1" dirty="0">
              <a:solidFill>
                <a:schemeClr val="tx2"/>
              </a:solidFill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b="1" dirty="0">
                <a:solidFill>
                  <a:srgbClr val="000000"/>
                </a:solidFill>
                <a:latin typeface="+mn-lt"/>
              </a:rPr>
              <a:t>Input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: natural-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language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prompt (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context</a:t>
            </a:r>
            <a:r>
              <a:rPr lang="de-DE" altLang="de-DE" i="1" dirty="0">
                <a:solidFill>
                  <a:srgbClr val="000000"/>
                </a:solidFill>
                <a:latin typeface="+mn-lt"/>
              </a:rPr>
              <a:t> + 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question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).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b="1" dirty="0">
                <a:solidFill>
                  <a:srgbClr val="000000"/>
                </a:solidFill>
                <a:latin typeface="+mn-lt"/>
              </a:rPr>
              <a:t>Output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: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textual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label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like “Label: Clear Reply”.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Trained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to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complete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prompts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with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correct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dirty="0" err="1">
                <a:solidFill>
                  <a:srgbClr val="000000"/>
                </a:solidFill>
                <a:latin typeface="+mn-lt"/>
              </a:rPr>
              <a:t>labels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 (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sequence-to-sequence</a:t>
            </a:r>
            <a:r>
              <a:rPr lang="de-DE" altLang="de-DE" i="1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i="1" dirty="0" err="1">
                <a:solidFill>
                  <a:srgbClr val="000000"/>
                </a:solidFill>
                <a:latin typeface="+mn-lt"/>
              </a:rPr>
              <a:t>objective</a:t>
            </a:r>
            <a:r>
              <a:rPr lang="de-DE" altLang="de-DE" dirty="0">
                <a:solidFill>
                  <a:srgbClr val="000000"/>
                </a:solidFill>
                <a:latin typeface="+mn-lt"/>
              </a:rPr>
              <a:t>).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endParaRPr lang="de-DE" altLang="de-DE" dirty="0">
              <a:solidFill>
                <a:schemeClr val="tx1"/>
              </a:solidFill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endParaRPr lang="de-DE" dirty="0">
              <a:latin typeface="+mn-lt"/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9294639-9E7C-C225-1A8B-4286AC76D48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15</a:t>
            </a:fld>
            <a:endParaRPr lang="de-DE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C67B605-0E25-1817-68D5-D41E65BFB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 err="1"/>
              <a:t>LoRA</a:t>
            </a:r>
            <a:r>
              <a:rPr lang="de-DE" dirty="0"/>
              <a:t> Fine-</a:t>
            </a:r>
            <a:r>
              <a:rPr lang="de-DE" dirty="0" err="1"/>
              <a:t>Tuned</a:t>
            </a:r>
            <a:r>
              <a:rPr lang="de-DE" dirty="0"/>
              <a:t> Models</a:t>
            </a:r>
          </a:p>
        </p:txBody>
      </p:sp>
    </p:spTree>
    <p:extLst>
      <p:ext uri="{BB962C8B-B14F-4D97-AF65-F5344CB8AC3E}">
        <p14:creationId xmlns:p14="http://schemas.microsoft.com/office/powerpoint/2010/main" val="26307874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F7FABB29-05D8-AD36-C5A8-6C486E136A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162" y="1117278"/>
            <a:ext cx="4702490" cy="3732762"/>
          </a:xfrm>
        </p:spPr>
        <p:txBody>
          <a:bodyPr/>
          <a:lstStyle/>
          <a:p>
            <a:pPr marL="400050" indent="-171450">
              <a:buFont typeface="Arial" panose="020B0604020202020204" pitchFamily="34" charset="0"/>
              <a:buChar char="•"/>
            </a:pPr>
            <a:r>
              <a:rPr lang="de-DE" sz="1300" dirty="0" err="1">
                <a:latin typeface="+mn-lt"/>
              </a:rPr>
              <a:t>Initally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training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locally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with</a:t>
            </a:r>
            <a:r>
              <a:rPr lang="de-DE" sz="1300" dirty="0">
                <a:latin typeface="+mn-lt"/>
              </a:rPr>
              <a:t> </a:t>
            </a:r>
            <a:r>
              <a:rPr lang="de-DE" sz="1300" b="1" dirty="0" err="1">
                <a:solidFill>
                  <a:schemeClr val="tx2"/>
                </a:solidFill>
                <a:latin typeface="+mn-lt"/>
              </a:rPr>
              <a:t>clarity</a:t>
            </a:r>
            <a:r>
              <a:rPr lang="de-DE" sz="1300" b="1" dirty="0">
                <a:solidFill>
                  <a:schemeClr val="tx2"/>
                </a:solidFill>
                <a:latin typeface="+mn-lt"/>
              </a:rPr>
              <a:t>-models</a:t>
            </a:r>
            <a:r>
              <a:rPr lang="de-DE" sz="1300" dirty="0">
                <a:latin typeface="+mn-lt"/>
              </a:rPr>
              <a:t> </a:t>
            </a:r>
            <a:r>
              <a:rPr lang="de-DE" sz="1300" b="1" dirty="0" err="1">
                <a:latin typeface="+mn-lt"/>
              </a:rPr>
              <a:t>module</a:t>
            </a:r>
            <a:endParaRPr lang="de-DE" sz="1300" b="1" dirty="0">
              <a:latin typeface="+mn-lt"/>
            </a:endParaRPr>
          </a:p>
          <a:p>
            <a:pPr marL="400050" lvl="4" indent="-171450">
              <a:buFont typeface="Arial" panose="020B0604020202020204" pitchFamily="34" charset="0"/>
              <a:buChar char="•"/>
            </a:pPr>
            <a:r>
              <a:rPr lang="de-DE" sz="1300" dirty="0" err="1">
                <a:latin typeface="+mn-lt"/>
              </a:rPr>
              <a:t>Similar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workflow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as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the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encoder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models</a:t>
            </a:r>
            <a:endParaRPr lang="de-DE" sz="1300" dirty="0">
              <a:latin typeface="+mn-lt"/>
            </a:endParaRPr>
          </a:p>
          <a:p>
            <a:pPr marL="400050" lvl="4" indent="-171450">
              <a:buFont typeface="Arial" panose="020B0604020202020204" pitchFamily="34" charset="0"/>
              <a:buChar char="•"/>
            </a:pPr>
            <a:r>
              <a:rPr lang="de-DE" sz="1300" dirty="0" err="1">
                <a:latin typeface="+mn-lt"/>
              </a:rPr>
              <a:t>Useless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because</a:t>
            </a:r>
            <a:r>
              <a:rPr lang="de-DE" sz="1300" dirty="0">
                <a:latin typeface="+mn-lt"/>
              </a:rPr>
              <a:t> larger </a:t>
            </a:r>
            <a:r>
              <a:rPr lang="de-DE" sz="1300" dirty="0" err="1">
                <a:latin typeface="+mn-lt"/>
              </a:rPr>
              <a:t>models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can</a:t>
            </a:r>
            <a:r>
              <a:rPr lang="de-DE" sz="1300" dirty="0">
                <a:latin typeface="+mn-lt"/>
              </a:rPr>
              <a:t> not </a:t>
            </a:r>
            <a:r>
              <a:rPr lang="de-DE" sz="1300" dirty="0" err="1">
                <a:latin typeface="+mn-lt"/>
              </a:rPr>
              <a:t>be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trained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locally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or</a:t>
            </a:r>
            <a:r>
              <a:rPr lang="de-DE" sz="1300" dirty="0">
                <a:latin typeface="+mn-lt"/>
              </a:rPr>
              <a:t> on </a:t>
            </a:r>
            <a:r>
              <a:rPr lang="de-DE" sz="1300" dirty="0" err="1">
                <a:latin typeface="+mn-lt"/>
              </a:rPr>
              <a:t>Colab</a:t>
            </a:r>
            <a:endParaRPr lang="de-DE" sz="1300" dirty="0">
              <a:latin typeface="+mn-lt"/>
            </a:endParaRPr>
          </a:p>
          <a:p>
            <a:pPr marL="400050" lvl="4" indent="-171450">
              <a:buFont typeface="Arial" panose="020B0604020202020204" pitchFamily="34" charset="0"/>
              <a:buChar char="•"/>
            </a:pPr>
            <a:r>
              <a:rPr lang="de-DE" sz="1300" b="1" dirty="0">
                <a:latin typeface="+mn-lt"/>
              </a:rPr>
              <a:t>Solution</a:t>
            </a:r>
            <a:r>
              <a:rPr lang="de-DE" sz="1300" dirty="0">
                <a:latin typeface="+mn-lt"/>
              </a:rPr>
              <a:t>: Use a Model Provider </a:t>
            </a:r>
            <a:r>
              <a:rPr lang="de-DE" sz="1300" dirty="0" err="1">
                <a:latin typeface="+mn-lt"/>
              </a:rPr>
              <a:t>that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allows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the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fine</a:t>
            </a:r>
            <a:r>
              <a:rPr lang="de-DE" sz="1300" dirty="0">
                <a:latin typeface="+mn-lt"/>
              </a:rPr>
              <a:t>-tuning </a:t>
            </a:r>
            <a:r>
              <a:rPr lang="de-DE" sz="1300" dirty="0" err="1">
                <a:latin typeface="+mn-lt"/>
              </a:rPr>
              <a:t>of</a:t>
            </a:r>
            <a:r>
              <a:rPr lang="de-DE" sz="1300" dirty="0">
                <a:latin typeface="+mn-lt"/>
              </a:rPr>
              <a:t> </a:t>
            </a:r>
            <a:r>
              <a:rPr lang="de-DE" sz="1300" b="1" dirty="0">
                <a:latin typeface="+mn-lt"/>
              </a:rPr>
              <a:t>Open Source Models</a:t>
            </a:r>
          </a:p>
          <a:p>
            <a:pPr marL="857250" lvl="5" indent="-171450">
              <a:buFont typeface="Arial" panose="020B0604020202020204" pitchFamily="34" charset="0"/>
              <a:buChar char="•"/>
            </a:pPr>
            <a:r>
              <a:rPr lang="de-DE" sz="1300" b="1" dirty="0" err="1">
                <a:solidFill>
                  <a:schemeClr val="tx2"/>
                </a:solidFill>
                <a:latin typeface="+mn-lt"/>
              </a:rPr>
              <a:t>Together</a:t>
            </a:r>
            <a:r>
              <a:rPr lang="de-DE" sz="1300" b="1" dirty="0">
                <a:solidFill>
                  <a:schemeClr val="tx2"/>
                </a:solidFill>
                <a:latin typeface="+mn-lt"/>
              </a:rPr>
              <a:t> AI </a:t>
            </a:r>
            <a:r>
              <a:rPr lang="de-DE" sz="1300" dirty="0">
                <a:latin typeface="+mn-lt"/>
              </a:rPr>
              <a:t>(</a:t>
            </a:r>
            <a:r>
              <a:rPr lang="de-DE" sz="1300" dirty="0">
                <a:latin typeface="+mn-lt"/>
                <a:hlinkClick r:id="rId2"/>
              </a:rPr>
              <a:t>https://together.ai</a:t>
            </a:r>
            <a:r>
              <a:rPr lang="de-DE" sz="1300" dirty="0">
                <a:latin typeface="+mn-lt"/>
              </a:rPr>
              <a:t>): Service </a:t>
            </a:r>
            <a:r>
              <a:rPr lang="de-DE" sz="1300" dirty="0" err="1">
                <a:latin typeface="+mn-lt"/>
              </a:rPr>
              <a:t>for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training</a:t>
            </a:r>
            <a:r>
              <a:rPr lang="de-DE" sz="1300" dirty="0">
                <a:latin typeface="+mn-lt"/>
              </a:rPr>
              <a:t>, </a:t>
            </a:r>
            <a:r>
              <a:rPr lang="de-DE" sz="1300" dirty="0" err="1">
                <a:latin typeface="+mn-lt"/>
              </a:rPr>
              <a:t>fine</a:t>
            </a:r>
            <a:r>
              <a:rPr lang="de-DE" sz="1300" dirty="0">
                <a:latin typeface="+mn-lt"/>
              </a:rPr>
              <a:t>-tuning and </a:t>
            </a:r>
            <a:r>
              <a:rPr lang="de-DE" sz="1300" dirty="0" err="1">
                <a:latin typeface="+mn-lt"/>
              </a:rPr>
              <a:t>inference</a:t>
            </a:r>
            <a:r>
              <a:rPr lang="de-DE" sz="1300" dirty="0">
                <a:latin typeface="+mn-lt"/>
              </a:rPr>
              <a:t> on open-source </a:t>
            </a:r>
            <a:r>
              <a:rPr lang="de-DE" sz="1300" dirty="0" err="1">
                <a:latin typeface="+mn-lt"/>
              </a:rPr>
              <a:t>models</a:t>
            </a:r>
            <a:endParaRPr lang="de-DE" sz="1300" dirty="0"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sz="1300" dirty="0" err="1">
                <a:latin typeface="+mn-lt"/>
              </a:rPr>
              <a:t>Prepare</a:t>
            </a:r>
            <a:r>
              <a:rPr lang="de-DE" sz="1300" dirty="0">
                <a:latin typeface="+mn-lt"/>
              </a:rPr>
              <a:t> </a:t>
            </a:r>
            <a:r>
              <a:rPr lang="de-DE" sz="1300" b="1" dirty="0" err="1">
                <a:latin typeface="+mn-lt"/>
              </a:rPr>
              <a:t>dataset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for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training</a:t>
            </a:r>
            <a:br>
              <a:rPr lang="de-DE" sz="1300" dirty="0">
                <a:latin typeface="+mn-lt"/>
              </a:rPr>
            </a:br>
            <a:r>
              <a:rPr lang="de-DE" sz="1300" dirty="0">
                <a:latin typeface="+mn-lt"/>
              </a:rPr>
              <a:t>	</a:t>
            </a:r>
            <a:r>
              <a:rPr lang="de-DE" sz="700" dirty="0">
                <a:latin typeface="+mn-lt"/>
              </a:rPr>
              <a:t>{ "prompt": "&lt;prompt-text-</a:t>
            </a:r>
            <a:r>
              <a:rPr lang="de-DE" sz="700" dirty="0" err="1">
                <a:latin typeface="+mn-lt"/>
              </a:rPr>
              <a:t>with</a:t>
            </a:r>
            <a:r>
              <a:rPr lang="de-DE" sz="700" dirty="0">
                <a:latin typeface="+mn-lt"/>
              </a:rPr>
              <a:t>-</a:t>
            </a:r>
            <a:r>
              <a:rPr lang="de-DE" sz="700" dirty="0" err="1">
                <a:latin typeface="+mn-lt"/>
              </a:rPr>
              <a:t>answer</a:t>
            </a:r>
            <a:r>
              <a:rPr lang="de-DE" sz="700" dirty="0">
                <a:latin typeface="+mn-lt"/>
              </a:rPr>
              <a:t>-and-</a:t>
            </a:r>
            <a:r>
              <a:rPr lang="de-DE" sz="700" dirty="0" err="1">
                <a:latin typeface="+mn-lt"/>
              </a:rPr>
              <a:t>question</a:t>
            </a:r>
            <a:r>
              <a:rPr lang="de-DE" sz="700" dirty="0">
                <a:latin typeface="+mn-lt"/>
              </a:rPr>
              <a:t>&gt;", "</a:t>
            </a:r>
            <a:r>
              <a:rPr lang="de-DE" sz="700" dirty="0" err="1">
                <a:latin typeface="+mn-lt"/>
              </a:rPr>
              <a:t>completion</a:t>
            </a:r>
            <a:r>
              <a:rPr lang="de-DE" sz="700" dirty="0">
                <a:latin typeface="+mn-lt"/>
              </a:rPr>
              <a:t>": "Label: &lt;</a:t>
            </a:r>
            <a:r>
              <a:rPr lang="de-DE" sz="700" dirty="0" err="1">
                <a:latin typeface="+mn-lt"/>
              </a:rPr>
              <a:t>clarity_label</a:t>
            </a:r>
            <a:r>
              <a:rPr lang="de-DE" sz="700" dirty="0">
                <a:latin typeface="+mn-lt"/>
              </a:rPr>
              <a:t>&gt;" }</a:t>
            </a:r>
            <a:br>
              <a:rPr lang="de-DE" sz="700" dirty="0">
                <a:latin typeface="+mn-lt"/>
              </a:rPr>
            </a:br>
            <a:r>
              <a:rPr lang="de-DE" sz="700" dirty="0">
                <a:latin typeface="+mn-lt"/>
              </a:rPr>
              <a:t>	{ "prompt": "&lt;prompt-text-</a:t>
            </a:r>
            <a:r>
              <a:rPr lang="de-DE" sz="700" dirty="0" err="1">
                <a:latin typeface="+mn-lt"/>
              </a:rPr>
              <a:t>with</a:t>
            </a:r>
            <a:r>
              <a:rPr lang="de-DE" sz="700" dirty="0">
                <a:latin typeface="+mn-lt"/>
              </a:rPr>
              <a:t>-</a:t>
            </a:r>
            <a:r>
              <a:rPr lang="de-DE" sz="700" dirty="0" err="1">
                <a:latin typeface="+mn-lt"/>
              </a:rPr>
              <a:t>answer</a:t>
            </a:r>
            <a:r>
              <a:rPr lang="de-DE" sz="700" dirty="0">
                <a:latin typeface="+mn-lt"/>
              </a:rPr>
              <a:t>-and-</a:t>
            </a:r>
            <a:r>
              <a:rPr lang="de-DE" sz="700" dirty="0" err="1">
                <a:latin typeface="+mn-lt"/>
              </a:rPr>
              <a:t>question</a:t>
            </a:r>
            <a:r>
              <a:rPr lang="de-DE" sz="700" dirty="0">
                <a:latin typeface="+mn-lt"/>
              </a:rPr>
              <a:t>&gt;", "</a:t>
            </a:r>
            <a:r>
              <a:rPr lang="de-DE" sz="700" dirty="0" err="1">
                <a:latin typeface="+mn-lt"/>
              </a:rPr>
              <a:t>completion</a:t>
            </a:r>
            <a:r>
              <a:rPr lang="de-DE" sz="700" dirty="0">
                <a:latin typeface="+mn-lt"/>
              </a:rPr>
              <a:t>": "Label: &lt;</a:t>
            </a:r>
            <a:r>
              <a:rPr lang="de-DE" sz="700" dirty="0" err="1">
                <a:latin typeface="+mn-lt"/>
              </a:rPr>
              <a:t>clarity_label</a:t>
            </a:r>
            <a:r>
              <a:rPr lang="de-DE" sz="700" dirty="0">
                <a:latin typeface="+mn-lt"/>
              </a:rPr>
              <a:t>&gt;" }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sz="1300" dirty="0" err="1">
                <a:latin typeface="+mn-lt"/>
              </a:rPr>
              <a:t>Together</a:t>
            </a:r>
            <a:r>
              <a:rPr lang="de-DE" sz="1300" dirty="0">
                <a:latin typeface="+mn-lt"/>
              </a:rPr>
              <a:t> AI </a:t>
            </a:r>
            <a:r>
              <a:rPr lang="de-DE" sz="1300" dirty="0" err="1">
                <a:latin typeface="+mn-lt"/>
              </a:rPr>
              <a:t>provides</a:t>
            </a:r>
            <a:r>
              <a:rPr lang="de-DE" sz="1300" dirty="0">
                <a:latin typeface="+mn-lt"/>
              </a:rPr>
              <a:t> a </a:t>
            </a:r>
            <a:r>
              <a:rPr lang="de-DE" sz="1300" b="1" dirty="0" err="1">
                <a:latin typeface="+mn-lt"/>
              </a:rPr>
              <a:t>dedicated</a:t>
            </a:r>
            <a:r>
              <a:rPr lang="de-DE" sz="1300" b="1" dirty="0">
                <a:latin typeface="+mn-lt"/>
              </a:rPr>
              <a:t> </a:t>
            </a:r>
            <a:r>
              <a:rPr lang="de-DE" sz="1300" b="1" dirty="0" err="1">
                <a:latin typeface="+mn-lt"/>
              </a:rPr>
              <a:t>endpoint</a:t>
            </a:r>
            <a:r>
              <a:rPr lang="de-DE" sz="1300" b="1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to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access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the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fine-tuned</a:t>
            </a:r>
            <a:r>
              <a:rPr lang="de-DE" sz="1300" dirty="0">
                <a:latin typeface="+mn-lt"/>
              </a:rPr>
              <a:t> </a:t>
            </a:r>
            <a:r>
              <a:rPr lang="de-DE" sz="1300" dirty="0" err="1">
                <a:latin typeface="+mn-lt"/>
              </a:rPr>
              <a:t>model</a:t>
            </a:r>
            <a:endParaRPr lang="de-DE" sz="1300" dirty="0">
              <a:latin typeface="+mn-lt"/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3DEED78-3296-A35A-34BC-90BB6061ABA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16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8BF7B5F3-9536-5F49-BEFD-91E3497762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 err="1"/>
              <a:t>LoRA</a:t>
            </a:r>
            <a:r>
              <a:rPr lang="de-DE" dirty="0"/>
              <a:t> Fine-</a:t>
            </a:r>
            <a:r>
              <a:rPr lang="de-DE" dirty="0" err="1"/>
              <a:t>Tuned</a:t>
            </a:r>
            <a:r>
              <a:rPr lang="de-DE" dirty="0"/>
              <a:t> Models - Implementation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C0123BA-9F73-8EFC-4E49-A8A6E06C3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3652" y="1072597"/>
            <a:ext cx="3880873" cy="3495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2197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25F92C4-9569-079E-06D5-5625D8AA59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9090" y="1222525"/>
            <a:ext cx="5647369" cy="3463775"/>
          </a:xfrm>
        </p:spPr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sz="1500" b="1" dirty="0">
                <a:solidFill>
                  <a:schemeClr val="tx2"/>
                </a:solidFill>
                <a:latin typeface="+mn-lt"/>
              </a:rPr>
              <a:t>Core Idea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sz="1500" dirty="0">
                <a:latin typeface="+mn-lt"/>
              </a:rPr>
              <a:t>Use LLMs </a:t>
            </a:r>
            <a:r>
              <a:rPr lang="de-DE" sz="1500" dirty="0" err="1">
                <a:latin typeface="+mn-lt"/>
              </a:rPr>
              <a:t>as</a:t>
            </a:r>
            <a:r>
              <a:rPr lang="de-DE" sz="1500" dirty="0">
                <a:latin typeface="+mn-lt"/>
              </a:rPr>
              <a:t> </a:t>
            </a:r>
            <a:r>
              <a:rPr lang="de-DE" sz="1500" dirty="0" err="1">
                <a:latin typeface="+mn-lt"/>
              </a:rPr>
              <a:t>reasoning</a:t>
            </a:r>
            <a:r>
              <a:rPr lang="de-DE" sz="1500" dirty="0">
                <a:latin typeface="+mn-lt"/>
              </a:rPr>
              <a:t> </a:t>
            </a:r>
            <a:r>
              <a:rPr lang="de-DE" sz="1500" dirty="0" err="1">
                <a:latin typeface="+mn-lt"/>
              </a:rPr>
              <a:t>engines</a:t>
            </a:r>
            <a:r>
              <a:rPr lang="de-DE" sz="1500" dirty="0">
                <a:latin typeface="+mn-lt"/>
              </a:rPr>
              <a:t> via </a:t>
            </a:r>
            <a:r>
              <a:rPr lang="de-DE" sz="1500" dirty="0" err="1">
                <a:latin typeface="+mn-lt"/>
              </a:rPr>
              <a:t>prompts</a:t>
            </a:r>
            <a:r>
              <a:rPr lang="de-DE" sz="1500" dirty="0">
                <a:latin typeface="+mn-lt"/>
              </a:rPr>
              <a:t>. </a:t>
            </a:r>
            <a:r>
              <a:rPr lang="de-DE" sz="1500" dirty="0" err="1">
                <a:latin typeface="+mn-lt"/>
              </a:rPr>
              <a:t>No</a:t>
            </a:r>
            <a:r>
              <a:rPr lang="de-DE" sz="1500" dirty="0">
                <a:latin typeface="+mn-lt"/>
              </a:rPr>
              <a:t> </a:t>
            </a:r>
            <a:r>
              <a:rPr lang="de-DE" sz="1500" dirty="0" err="1">
                <a:latin typeface="+mn-lt"/>
              </a:rPr>
              <a:t>training</a:t>
            </a:r>
            <a:r>
              <a:rPr lang="de-DE" sz="1500" dirty="0">
                <a:latin typeface="+mn-lt"/>
              </a:rPr>
              <a:t> </a:t>
            </a:r>
            <a:r>
              <a:rPr lang="de-DE" sz="1500" dirty="0" err="1">
                <a:latin typeface="+mn-lt"/>
              </a:rPr>
              <a:t>necessary</a:t>
            </a:r>
            <a:r>
              <a:rPr lang="de-DE" sz="1500" dirty="0">
                <a:latin typeface="+mn-lt"/>
              </a:rPr>
              <a:t>.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sz="1500" dirty="0" err="1">
                <a:latin typeface="+mn-lt"/>
              </a:rPr>
              <a:t>Typical</a:t>
            </a:r>
            <a:r>
              <a:rPr lang="de-DE" sz="1500" dirty="0">
                <a:latin typeface="+mn-lt"/>
              </a:rPr>
              <a:t> </a:t>
            </a:r>
            <a:r>
              <a:rPr lang="de-DE" sz="1500" b="1" dirty="0">
                <a:solidFill>
                  <a:schemeClr val="tx2"/>
                </a:solidFill>
                <a:latin typeface="+mn-lt"/>
              </a:rPr>
              <a:t>Models</a:t>
            </a:r>
            <a:r>
              <a:rPr lang="de-DE" sz="1500" dirty="0">
                <a:latin typeface="+mn-lt"/>
              </a:rPr>
              <a:t>: </a:t>
            </a:r>
            <a:r>
              <a:rPr lang="de-DE" sz="1500" i="1" dirty="0">
                <a:latin typeface="+mn-lt"/>
              </a:rPr>
              <a:t>gpt-5, gpt-oss-120b,  claude-4.5-sonnet, LLaMA 70B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Prompting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b="1" dirty="0" err="1">
                <a:solidFill>
                  <a:srgbClr val="000000"/>
                </a:solidFill>
                <a:latin typeface="+mn-lt"/>
              </a:rPr>
              <a:t>modes</a:t>
            </a:r>
            <a:endParaRPr lang="de-DE" altLang="de-DE" sz="1500" b="1" dirty="0">
              <a:solidFill>
                <a:srgbClr val="000000"/>
              </a:solidFill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sz="1500" b="1" dirty="0">
                <a:solidFill>
                  <a:srgbClr val="000000"/>
                </a:solidFill>
                <a:latin typeface="+mn-lt"/>
              </a:rPr>
              <a:t>Zero-</a:t>
            </a:r>
            <a:r>
              <a:rPr lang="de-DE" altLang="de-DE" sz="1500" b="1" dirty="0" err="1">
                <a:solidFill>
                  <a:srgbClr val="000000"/>
                </a:solidFill>
                <a:latin typeface="+mn-lt"/>
              </a:rPr>
              <a:t>shot</a:t>
            </a:r>
            <a:r>
              <a:rPr lang="de-DE" altLang="de-DE" sz="1500" b="1" dirty="0">
                <a:solidFill>
                  <a:srgbClr val="000000"/>
                </a:solidFill>
                <a:latin typeface="+mn-lt"/>
              </a:rPr>
              <a:t>: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 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directly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instruct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model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(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no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examples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)</a:t>
            </a:r>
            <a:endParaRPr lang="de-DE" altLang="de-DE" sz="1500" dirty="0">
              <a:solidFill>
                <a:schemeClr val="tx1"/>
              </a:solidFill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altLang="de-DE" sz="1500" b="1" dirty="0" err="1">
                <a:solidFill>
                  <a:srgbClr val="000000"/>
                </a:solidFill>
                <a:latin typeface="+mn-lt"/>
              </a:rPr>
              <a:t>Few-shot</a:t>
            </a:r>
            <a:r>
              <a:rPr lang="de-DE" altLang="de-DE" sz="1500" b="1" dirty="0">
                <a:solidFill>
                  <a:srgbClr val="000000"/>
                </a:solidFill>
                <a:latin typeface="+mn-lt"/>
              </a:rPr>
              <a:t>: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 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include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a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few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labeled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QA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examples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before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the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test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item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Use </a:t>
            </a:r>
            <a:r>
              <a:rPr lang="de-DE" altLang="de-DE" sz="1500" b="1" dirty="0">
                <a:solidFill>
                  <a:schemeClr val="tx2"/>
                </a:solidFill>
                <a:latin typeface="+mn-lt"/>
              </a:rPr>
              <a:t>Prompt Engineering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techniques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to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enhance</a:t>
            </a:r>
            <a:r>
              <a:rPr lang="de-DE" altLang="de-DE" sz="1500" dirty="0">
                <a:solidFill>
                  <a:srgbClr val="000000"/>
                </a:solidFill>
                <a:latin typeface="+mn-lt"/>
              </a:rPr>
              <a:t> </a:t>
            </a:r>
            <a:r>
              <a:rPr lang="de-DE" altLang="de-DE" sz="1500" dirty="0" err="1">
                <a:solidFill>
                  <a:srgbClr val="000000"/>
                </a:solidFill>
                <a:latin typeface="+mn-lt"/>
              </a:rPr>
              <a:t>result</a:t>
            </a:r>
            <a:endParaRPr lang="de-DE" altLang="de-DE" sz="1500" dirty="0">
              <a:solidFill>
                <a:schemeClr val="tx1"/>
              </a:solidFill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sz="1500" dirty="0">
                <a:latin typeface="+mn-lt"/>
              </a:rPr>
              <a:t>Use via APIs </a:t>
            </a:r>
            <a:r>
              <a:rPr lang="de-DE" sz="1500" dirty="0" err="1">
                <a:latin typeface="+mn-lt"/>
              </a:rPr>
              <a:t>provided</a:t>
            </a:r>
            <a:r>
              <a:rPr lang="de-DE" sz="1500" dirty="0">
                <a:latin typeface="+mn-lt"/>
              </a:rPr>
              <a:t> </a:t>
            </a:r>
            <a:r>
              <a:rPr lang="de-DE" sz="1500" dirty="0" err="1">
                <a:latin typeface="+mn-lt"/>
              </a:rPr>
              <a:t>by</a:t>
            </a:r>
            <a:r>
              <a:rPr lang="de-DE" sz="1500" dirty="0">
                <a:latin typeface="+mn-lt"/>
              </a:rPr>
              <a:t> Model Providers </a:t>
            </a:r>
            <a:r>
              <a:rPr lang="de-DE" sz="1500" i="1" dirty="0">
                <a:latin typeface="+mn-lt"/>
              </a:rPr>
              <a:t>(OpenAI, Anthropic, …)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613A137-1634-BFCC-4F42-920B15D1D0D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17</a:t>
            </a:fld>
            <a:endParaRPr lang="de-DE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E10771CE-7588-0E83-1F7B-6C96C6F96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LLM </a:t>
            </a:r>
            <a:r>
              <a:rPr lang="de-DE" dirty="0" err="1"/>
              <a:t>Prompting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8724C05-DB6E-253B-81FC-669EF1F48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158" y="895873"/>
            <a:ext cx="2408759" cy="3849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242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B51B8FA-1EA8-5A19-2598-9DBB88941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9091" y="1222525"/>
            <a:ext cx="7940990" cy="3463775"/>
          </a:xfrm>
        </p:spPr>
        <p:txBody>
          <a:bodyPr/>
          <a:lstStyle/>
          <a:p>
            <a:pPr marL="571500" indent="-342900">
              <a:buFont typeface="+mj-lt"/>
              <a:buAutoNum type="arabicPeriod"/>
            </a:pPr>
            <a:r>
              <a:rPr lang="de-DE" dirty="0">
                <a:latin typeface="+mn-lt"/>
              </a:rPr>
              <a:t>The </a:t>
            </a:r>
            <a:r>
              <a:rPr lang="de-DE" dirty="0" err="1">
                <a:latin typeface="+mn-lt"/>
              </a:rPr>
              <a:t>system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shall</a:t>
            </a:r>
            <a:r>
              <a:rPr lang="de-DE" dirty="0">
                <a:latin typeface="+mn-lt"/>
              </a:rPr>
              <a:t> perform </a:t>
            </a:r>
            <a:r>
              <a:rPr lang="de-DE" dirty="0" err="1">
                <a:latin typeface="+mn-lt"/>
              </a:rPr>
              <a:t>full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inference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runs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from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dataset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loading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to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evaluation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output</a:t>
            </a:r>
            <a:r>
              <a:rPr lang="de-DE" dirty="0">
                <a:latin typeface="+mn-lt"/>
              </a:rPr>
              <a:t> in a </a:t>
            </a:r>
            <a:r>
              <a:rPr lang="de-DE" b="1" dirty="0" err="1">
                <a:latin typeface="+mn-lt"/>
              </a:rPr>
              <a:t>single</a:t>
            </a:r>
            <a:r>
              <a:rPr lang="de-DE" b="1" dirty="0">
                <a:latin typeface="+mn-lt"/>
              </a:rPr>
              <a:t> </a:t>
            </a:r>
            <a:r>
              <a:rPr lang="de-DE" b="1" dirty="0" err="1">
                <a:latin typeface="+mn-lt"/>
              </a:rPr>
              <a:t>process</a:t>
            </a:r>
            <a:r>
              <a:rPr lang="de-DE" dirty="0">
                <a:latin typeface="+mn-lt"/>
              </a:rPr>
              <a:t>.</a:t>
            </a:r>
          </a:p>
          <a:p>
            <a:pPr marL="571500" indent="-342900">
              <a:buFont typeface="+mj-lt"/>
              <a:buAutoNum type="arabicPeriod"/>
            </a:pPr>
            <a:endParaRPr lang="de-DE" dirty="0">
              <a:latin typeface="+mn-lt"/>
            </a:endParaRPr>
          </a:p>
          <a:p>
            <a:pPr marL="571500" indent="-342900">
              <a:buFont typeface="+mj-lt"/>
              <a:buAutoNum type="arabicPeriod"/>
            </a:pPr>
            <a:r>
              <a:rPr lang="de-DE" dirty="0">
                <a:latin typeface="+mn-lt"/>
              </a:rPr>
              <a:t>The </a:t>
            </a:r>
            <a:r>
              <a:rPr lang="de-DE" dirty="0" err="1">
                <a:latin typeface="+mn-lt"/>
              </a:rPr>
              <a:t>system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shall</a:t>
            </a:r>
            <a:r>
              <a:rPr lang="de-DE" dirty="0">
                <a:latin typeface="+mn-lt"/>
              </a:rPr>
              <a:t> </a:t>
            </a:r>
            <a:r>
              <a:rPr lang="de-DE" b="1" dirty="0" err="1">
                <a:latin typeface="+mn-lt"/>
              </a:rPr>
              <a:t>store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datasets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taxonomies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model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configurations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predictions</a:t>
            </a:r>
            <a:r>
              <a:rPr lang="de-DE" dirty="0">
                <a:latin typeface="+mn-lt"/>
              </a:rPr>
              <a:t>, and </a:t>
            </a:r>
            <a:r>
              <a:rPr lang="de-DE" dirty="0" err="1">
                <a:latin typeface="+mn-lt"/>
              </a:rPr>
              <a:t>evaluations</a:t>
            </a:r>
            <a:r>
              <a:rPr lang="de-DE" dirty="0">
                <a:latin typeface="+mn-lt"/>
              </a:rPr>
              <a:t> in </a:t>
            </a:r>
            <a:r>
              <a:rPr lang="de-DE" b="1" dirty="0" err="1">
                <a:latin typeface="+mn-lt"/>
              </a:rPr>
              <a:t>database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for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future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retrieval</a:t>
            </a:r>
            <a:r>
              <a:rPr lang="de-DE" dirty="0">
                <a:latin typeface="+mn-lt"/>
              </a:rPr>
              <a:t> and </a:t>
            </a:r>
            <a:r>
              <a:rPr lang="de-DE" b="1" dirty="0" err="1">
                <a:latin typeface="+mn-lt"/>
              </a:rPr>
              <a:t>analysis</a:t>
            </a:r>
            <a:r>
              <a:rPr lang="de-DE" dirty="0">
                <a:latin typeface="+mn-lt"/>
              </a:rPr>
              <a:t>.</a:t>
            </a:r>
          </a:p>
          <a:p>
            <a:pPr marL="571500" indent="-342900">
              <a:buFont typeface="+mj-lt"/>
              <a:buAutoNum type="arabicPeriod"/>
            </a:pPr>
            <a:endParaRPr lang="de-DE" dirty="0">
              <a:latin typeface="+mn-lt"/>
            </a:endParaRPr>
          </a:p>
          <a:p>
            <a:pPr marL="571500" indent="-342900">
              <a:buFont typeface="+mj-lt"/>
              <a:buAutoNum type="arabicPeriod"/>
            </a:pPr>
            <a:r>
              <a:rPr lang="de-DE" dirty="0">
                <a:latin typeface="+mn-lt"/>
              </a:rPr>
              <a:t>The </a:t>
            </a:r>
            <a:r>
              <a:rPr lang="de-DE" dirty="0" err="1">
                <a:latin typeface="+mn-lt"/>
              </a:rPr>
              <a:t>system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shall</a:t>
            </a:r>
            <a:r>
              <a:rPr lang="de-DE" dirty="0">
                <a:latin typeface="+mn-lt"/>
              </a:rPr>
              <a:t> support </a:t>
            </a:r>
            <a:r>
              <a:rPr lang="de-DE" b="1" dirty="0">
                <a:latin typeface="+mn-lt"/>
              </a:rPr>
              <a:t>multiple </a:t>
            </a:r>
            <a:r>
              <a:rPr lang="de-DE" b="1" dirty="0" err="1">
                <a:latin typeface="+mn-lt"/>
              </a:rPr>
              <a:t>model</a:t>
            </a:r>
            <a:r>
              <a:rPr lang="de-DE" b="1" dirty="0">
                <a:latin typeface="+mn-lt"/>
              </a:rPr>
              <a:t> </a:t>
            </a:r>
            <a:r>
              <a:rPr lang="de-DE" b="1" dirty="0" err="1">
                <a:latin typeface="+mn-lt"/>
              </a:rPr>
              <a:t>types</a:t>
            </a:r>
            <a:r>
              <a:rPr lang="de-DE" b="1" dirty="0">
                <a:latin typeface="+mn-lt"/>
              </a:rPr>
              <a:t> </a:t>
            </a:r>
            <a:r>
              <a:rPr lang="de-DE" dirty="0">
                <a:latin typeface="+mn-lt"/>
              </a:rPr>
              <a:t>and</a:t>
            </a:r>
            <a:r>
              <a:rPr lang="de-DE" b="1" dirty="0">
                <a:latin typeface="+mn-lt"/>
              </a:rPr>
              <a:t> </a:t>
            </a:r>
            <a:r>
              <a:rPr lang="de-DE" b="1" dirty="0" err="1">
                <a:latin typeface="+mn-lt"/>
              </a:rPr>
              <a:t>providers</a:t>
            </a:r>
            <a:r>
              <a:rPr lang="de-DE" b="1" dirty="0">
                <a:latin typeface="+mn-lt"/>
              </a:rPr>
              <a:t> </a:t>
            </a:r>
            <a:r>
              <a:rPr lang="de-DE" dirty="0">
                <a:latin typeface="+mn-lt"/>
              </a:rPr>
              <a:t>(e.g., OpenAI, Anthropic, </a:t>
            </a:r>
            <a:r>
              <a:rPr lang="de-DE" dirty="0" err="1">
                <a:latin typeface="+mn-lt"/>
              </a:rPr>
              <a:t>Together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locally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hosted</a:t>
            </a:r>
            <a:r>
              <a:rPr lang="de-DE" dirty="0">
                <a:latin typeface="+mn-lt"/>
              </a:rPr>
              <a:t>).</a:t>
            </a:r>
          </a:p>
          <a:p>
            <a:pPr marL="571500" indent="-342900">
              <a:buFont typeface="+mj-lt"/>
              <a:buAutoNum type="arabicPeriod"/>
            </a:pPr>
            <a:endParaRPr lang="de-DE" dirty="0">
              <a:latin typeface="+mn-lt"/>
            </a:endParaRPr>
          </a:p>
          <a:p>
            <a:pPr marL="571500" indent="-342900">
              <a:buFont typeface="+mj-lt"/>
              <a:buAutoNum type="arabicPeriod"/>
            </a:pPr>
            <a:r>
              <a:rPr lang="de-DE" dirty="0">
                <a:latin typeface="+mn-lt"/>
              </a:rPr>
              <a:t>The </a:t>
            </a:r>
            <a:r>
              <a:rPr lang="de-DE" dirty="0" err="1">
                <a:latin typeface="+mn-lt"/>
              </a:rPr>
              <a:t>system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shall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allow</a:t>
            </a:r>
            <a:r>
              <a:rPr lang="de-DE" dirty="0">
                <a:latin typeface="+mn-lt"/>
              </a:rPr>
              <a:t> all </a:t>
            </a:r>
            <a:r>
              <a:rPr lang="de-DE" dirty="0" err="1">
                <a:latin typeface="+mn-lt"/>
              </a:rPr>
              <a:t>aspects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of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the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classification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pipeline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to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be</a:t>
            </a:r>
            <a:r>
              <a:rPr lang="de-DE" dirty="0">
                <a:latin typeface="+mn-lt"/>
              </a:rPr>
              <a:t> </a:t>
            </a:r>
            <a:r>
              <a:rPr lang="de-DE" b="1" dirty="0" err="1">
                <a:latin typeface="+mn-lt"/>
              </a:rPr>
              <a:t>configured</a:t>
            </a:r>
            <a:r>
              <a:rPr lang="de-DE" dirty="0">
                <a:latin typeface="+mn-lt"/>
              </a:rPr>
              <a:t> via external </a:t>
            </a:r>
            <a:r>
              <a:rPr lang="de-DE" dirty="0" err="1">
                <a:latin typeface="+mn-lt"/>
              </a:rPr>
              <a:t>files</a:t>
            </a:r>
            <a:r>
              <a:rPr lang="de-DE" dirty="0">
                <a:latin typeface="+mn-lt"/>
              </a:rPr>
              <a:t>, </a:t>
            </a:r>
            <a:r>
              <a:rPr lang="de-DE" dirty="0" err="1">
                <a:latin typeface="+mn-lt"/>
              </a:rPr>
              <a:t>enabling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reproducible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experiments</a:t>
            </a:r>
            <a:r>
              <a:rPr lang="de-DE" dirty="0">
                <a:latin typeface="+mn-lt"/>
              </a:rPr>
              <a:t> and </a:t>
            </a:r>
            <a:r>
              <a:rPr lang="de-DE" b="1" dirty="0" err="1">
                <a:latin typeface="+mn-lt"/>
              </a:rPr>
              <a:t>dynamic</a:t>
            </a:r>
            <a:r>
              <a:rPr lang="de-DE" b="1" dirty="0">
                <a:latin typeface="+mn-lt"/>
              </a:rPr>
              <a:t> </a:t>
            </a:r>
            <a:r>
              <a:rPr lang="de-DE" b="1" dirty="0" err="1">
                <a:latin typeface="+mn-lt"/>
              </a:rPr>
              <a:t>adjustments</a:t>
            </a:r>
            <a:r>
              <a:rPr lang="de-DE" dirty="0">
                <a:latin typeface="+mn-lt"/>
              </a:rPr>
              <a:t>.</a:t>
            </a:r>
            <a:br>
              <a:rPr lang="de-DE" dirty="0">
                <a:latin typeface="+mn-lt"/>
              </a:rPr>
            </a:br>
            <a:endParaRPr lang="de-DE" dirty="0">
              <a:latin typeface="+mn-lt"/>
            </a:endParaRPr>
          </a:p>
          <a:p>
            <a:pPr marL="571500" indent="-342900">
              <a:buFont typeface="+mj-lt"/>
              <a:buAutoNum type="arabicPeriod"/>
            </a:pPr>
            <a:endParaRPr lang="de-DE" dirty="0">
              <a:latin typeface="+mn-lt"/>
            </a:endParaRPr>
          </a:p>
          <a:p>
            <a:pPr marL="1028700" lvl="1" indent="-342900">
              <a:buFont typeface="+mj-lt"/>
              <a:buAutoNum type="arabicPeriod"/>
            </a:pPr>
            <a:endParaRPr lang="de-DE" dirty="0">
              <a:latin typeface="+mn-lt"/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CF7A514-8BEA-E9A3-6D16-39B8C08EB5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18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9DE1708-30E8-2D6B-E256-4489343F5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Pipeline - </a:t>
            </a:r>
            <a:r>
              <a:rPr lang="de-DE" dirty="0" err="1"/>
              <a:t>Requirements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9673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6F73F2E-E196-D843-8781-14ACADCB71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19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81439D87-EDB2-EC98-4FC2-6B3BA9486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Pipeline - Architecture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ABAEB7C-E454-F800-39C5-EDA494193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593" y="785903"/>
            <a:ext cx="6339641" cy="4141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900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747CE67-F25A-637D-61AD-2943E1D17B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Implementation in </a:t>
            </a:r>
            <a:r>
              <a:rPr lang="de-DE" b="1" dirty="0">
                <a:latin typeface="+mn-lt"/>
              </a:rPr>
              <a:t>Java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3 </a:t>
            </a:r>
            <a:r>
              <a:rPr lang="de-DE" b="1" dirty="0" err="1">
                <a:latin typeface="+mn-lt"/>
              </a:rPr>
              <a:t>submodules</a:t>
            </a:r>
            <a:r>
              <a:rPr lang="de-DE" dirty="0">
                <a:latin typeface="+mn-lt"/>
              </a:rPr>
              <a:t> in </a:t>
            </a:r>
            <a:r>
              <a:rPr lang="de-DE" dirty="0" err="1">
                <a:latin typeface="+mn-lt"/>
              </a:rPr>
              <a:t>repository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b="1" dirty="0" err="1">
                <a:solidFill>
                  <a:schemeClr val="tx2"/>
                </a:solidFill>
                <a:latin typeface="+mn-lt"/>
              </a:rPr>
              <a:t>clarity-utils</a:t>
            </a:r>
            <a:r>
              <a:rPr lang="de-DE" dirty="0">
                <a:latin typeface="+mn-lt"/>
              </a:rPr>
              <a:t>: </a:t>
            </a:r>
            <a:r>
              <a:rPr lang="de-DE" dirty="0" err="1">
                <a:latin typeface="+mn-lt"/>
              </a:rPr>
              <a:t>Contains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general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java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utility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classes</a:t>
            </a:r>
            <a:r>
              <a:rPr lang="de-DE" dirty="0">
                <a:latin typeface="+mn-lt"/>
              </a:rPr>
              <a:t> and </a:t>
            </a:r>
            <a:r>
              <a:rPr lang="de-DE" dirty="0" err="1">
                <a:latin typeface="+mn-lt"/>
              </a:rPr>
              <a:t>functions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used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across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the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project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b="1" dirty="0">
                <a:solidFill>
                  <a:schemeClr val="tx2"/>
                </a:solidFill>
                <a:latin typeface="+mn-lt"/>
              </a:rPr>
              <a:t>clarity-neo4j</a:t>
            </a:r>
            <a:r>
              <a:rPr lang="de-DE" dirty="0">
                <a:latin typeface="+mn-lt"/>
              </a:rPr>
              <a:t>: Handles </a:t>
            </a:r>
            <a:r>
              <a:rPr lang="de-DE" dirty="0" err="1">
                <a:latin typeface="+mn-lt"/>
              </a:rPr>
              <a:t>interactions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with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the</a:t>
            </a:r>
            <a:r>
              <a:rPr lang="de-DE" dirty="0">
                <a:latin typeface="+mn-lt"/>
              </a:rPr>
              <a:t> Neo4j </a:t>
            </a:r>
            <a:r>
              <a:rPr lang="de-DE" dirty="0" err="1">
                <a:latin typeface="+mn-lt"/>
              </a:rPr>
              <a:t>database</a:t>
            </a:r>
            <a:r>
              <a:rPr lang="de-DE" dirty="0">
                <a:latin typeface="+mn-lt"/>
              </a:rPr>
              <a:t> and </a:t>
            </a:r>
            <a:r>
              <a:rPr lang="de-DE" dirty="0" err="1">
                <a:latin typeface="+mn-lt"/>
              </a:rPr>
              <a:t>provides</a:t>
            </a:r>
            <a:r>
              <a:rPr lang="de-DE" dirty="0">
                <a:latin typeface="+mn-lt"/>
              </a:rPr>
              <a:t> utilities </a:t>
            </a:r>
            <a:r>
              <a:rPr lang="de-DE" dirty="0" err="1">
                <a:latin typeface="+mn-lt"/>
              </a:rPr>
              <a:t>for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managing</a:t>
            </a:r>
            <a:r>
              <a:rPr lang="de-DE" dirty="0">
                <a:latin typeface="+mn-lt"/>
              </a:rPr>
              <a:t> neo4j </a:t>
            </a:r>
            <a:r>
              <a:rPr lang="de-DE" dirty="0" err="1">
                <a:latin typeface="+mn-lt"/>
              </a:rPr>
              <a:t>data</a:t>
            </a:r>
            <a:r>
              <a:rPr lang="de-DE" dirty="0">
                <a:latin typeface="+mn-lt"/>
              </a:rPr>
              <a:t>.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b="1" dirty="0" err="1">
                <a:solidFill>
                  <a:schemeClr val="tx2"/>
                </a:solidFill>
                <a:latin typeface="+mn-lt"/>
              </a:rPr>
              <a:t>clarity</a:t>
            </a:r>
            <a:r>
              <a:rPr lang="de-DE" b="1" dirty="0">
                <a:solidFill>
                  <a:schemeClr val="tx2"/>
                </a:solidFill>
                <a:latin typeface="+mn-lt"/>
              </a:rPr>
              <a:t>-pipeline</a:t>
            </a:r>
            <a:r>
              <a:rPr lang="de-DE" dirty="0">
                <a:latin typeface="+mn-lt"/>
              </a:rPr>
              <a:t>: Actual </a:t>
            </a:r>
            <a:r>
              <a:rPr lang="de-DE" dirty="0" err="1">
                <a:latin typeface="+mn-lt"/>
              </a:rPr>
              <a:t>services</a:t>
            </a:r>
            <a:r>
              <a:rPr lang="de-DE" dirty="0">
                <a:latin typeface="+mn-lt"/>
              </a:rPr>
              <a:t> and </a:t>
            </a:r>
            <a:r>
              <a:rPr lang="de-DE" dirty="0" err="1">
                <a:latin typeface="+mn-lt"/>
              </a:rPr>
              <a:t>logic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used</a:t>
            </a:r>
            <a:r>
              <a:rPr lang="de-DE" dirty="0">
                <a:latin typeface="+mn-lt"/>
              </a:rPr>
              <a:t> in </a:t>
            </a:r>
            <a:r>
              <a:rPr lang="de-DE" dirty="0" err="1">
                <a:latin typeface="+mn-lt"/>
              </a:rPr>
              <a:t>the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classification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pipeline</a:t>
            </a:r>
            <a:endParaRPr lang="de-DE" dirty="0">
              <a:latin typeface="+mn-lt"/>
            </a:endParaRPr>
          </a:p>
          <a:p>
            <a:pPr marL="1428750" lvl="2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Data </a:t>
            </a:r>
            <a:r>
              <a:rPr lang="de-DE" dirty="0" err="1">
                <a:latin typeface="+mn-lt"/>
              </a:rPr>
              <a:t>ingestion</a:t>
            </a:r>
            <a:r>
              <a:rPr lang="de-DE" dirty="0">
                <a:latin typeface="+mn-lt"/>
              </a:rPr>
              <a:t>/</a:t>
            </a:r>
            <a:r>
              <a:rPr lang="de-DE" dirty="0" err="1">
                <a:latin typeface="+mn-lt"/>
              </a:rPr>
              <a:t>processing</a:t>
            </a:r>
            <a:endParaRPr lang="de-DE" dirty="0">
              <a:latin typeface="+mn-lt"/>
            </a:endParaRPr>
          </a:p>
          <a:p>
            <a:pPr marL="1428750" lvl="2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Classification</a:t>
            </a:r>
          </a:p>
          <a:p>
            <a:pPr marL="1428750" lvl="2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Evaluation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b="1" dirty="0" err="1">
                <a:latin typeface="+mn-lt"/>
              </a:rPr>
              <a:t>Configurations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are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written</a:t>
            </a:r>
            <a:r>
              <a:rPr lang="de-DE" dirty="0">
                <a:latin typeface="+mn-lt"/>
              </a:rPr>
              <a:t> in YAML </a:t>
            </a:r>
            <a:r>
              <a:rPr lang="de-DE" dirty="0" err="1">
                <a:latin typeface="+mn-lt"/>
              </a:rPr>
              <a:t>files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that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are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parsed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by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the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pipeline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i="1" dirty="0" err="1">
                <a:latin typeface="+mn-lt"/>
              </a:rPr>
              <a:t>Taxonomy</a:t>
            </a:r>
            <a:endParaRPr lang="de-DE" i="1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i="1" dirty="0">
                <a:latin typeface="+mn-lt"/>
              </a:rPr>
              <a:t>Prompts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i="1" dirty="0">
                <a:latin typeface="+mn-lt"/>
              </a:rPr>
              <a:t>Database </a:t>
            </a:r>
            <a:r>
              <a:rPr lang="de-DE" i="1" dirty="0" err="1">
                <a:latin typeface="+mn-lt"/>
              </a:rPr>
              <a:t>Credentials</a:t>
            </a:r>
            <a:endParaRPr lang="de-DE" i="1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i="1" dirty="0">
                <a:latin typeface="+mn-lt"/>
              </a:rPr>
              <a:t>Pipeline Properties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D0B82FD-3230-BE76-6B98-DD647939E9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20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1E065AEB-079F-6ABA-61A2-8B0D6A0E6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Pipeline - Technical Details</a:t>
            </a:r>
          </a:p>
        </p:txBody>
      </p:sp>
    </p:spTree>
    <p:extLst>
      <p:ext uri="{BB962C8B-B14F-4D97-AF65-F5344CB8AC3E}">
        <p14:creationId xmlns:p14="http://schemas.microsoft.com/office/powerpoint/2010/main" val="6447524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299C3-7350-CEF3-1ED2-6869C67D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5ED941-E589-18EB-E867-8117909D8E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21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33D0CC9-BB3D-1B2A-5D3B-963DE7B14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Pipeline - Graph </a:t>
            </a:r>
            <a:r>
              <a:rPr lang="de-DE" dirty="0" err="1"/>
              <a:t>Ontology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E908C8B-F274-0A31-59DE-F1AA24EA9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62" y="934494"/>
            <a:ext cx="4439457" cy="37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231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2918B6F-16AA-FE7F-E903-8F84E6B7DF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22</a:t>
            </a:fld>
            <a:endParaRPr lang="de-DE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DEB95D-A2C0-6201-0950-1EB6486D6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Initial Experiments</a:t>
            </a:r>
          </a:p>
        </p:txBody>
      </p:sp>
      <p:pic>
        <p:nvPicPr>
          <p:cNvPr id="6" name="Grafik 5" descr="Ein Bild, das Text, Zahl, Schrift, Reihe enthält.&#10;&#10;KI-generierte Inhalte können fehlerhaft sein.">
            <a:extLst>
              <a:ext uri="{FF2B5EF4-FFF2-40B4-BE49-F238E27FC236}">
                <a16:creationId xmlns:a16="http://schemas.microsoft.com/office/drawing/2014/main" id="{D7161EF0-5C3D-9AB1-B267-CC692AD12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61" y="1222525"/>
            <a:ext cx="8508999" cy="288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450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DB32E-4410-9D5B-2119-A13DB0BAF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0E95FC6-6C53-96F8-5370-2057CE4A57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/>
              <a:t>Analyze </a:t>
            </a:r>
            <a:r>
              <a:rPr lang="de-DE" dirty="0" err="1"/>
              <a:t>results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endParaRPr lang="de-DE" dirty="0"/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/>
              <a:t>Use </a:t>
            </a:r>
            <a:r>
              <a:rPr lang="de-DE" dirty="0" err="1"/>
              <a:t>strengths</a:t>
            </a:r>
            <a:r>
              <a:rPr lang="de-DE" dirty="0"/>
              <a:t> &amp; </a:t>
            </a:r>
            <a:r>
              <a:rPr lang="de-DE" dirty="0" err="1"/>
              <a:t>weaknesses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different </a:t>
            </a:r>
            <a:r>
              <a:rPr lang="de-DE" dirty="0" err="1"/>
              <a:t>models</a:t>
            </a:r>
            <a:endParaRPr lang="de-DE" dirty="0"/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 in </a:t>
            </a:r>
            <a:r>
              <a:rPr lang="de-DE" dirty="0" err="1"/>
              <a:t>targeted</a:t>
            </a:r>
            <a:r>
              <a:rPr lang="de-DE" dirty="0"/>
              <a:t> </a:t>
            </a:r>
            <a:r>
              <a:rPr lang="de-DE" dirty="0" err="1"/>
              <a:t>manner</a:t>
            </a:r>
            <a:endParaRPr lang="de-DE" dirty="0"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 err="1">
                <a:latin typeface="+mn-lt"/>
              </a:rPr>
              <a:t>Enhance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existing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approaches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Prompt </a:t>
            </a:r>
            <a:r>
              <a:rPr lang="de-DE" dirty="0" err="1">
                <a:latin typeface="+mn-lt"/>
              </a:rPr>
              <a:t>engineering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Different </a:t>
            </a:r>
            <a:r>
              <a:rPr lang="de-DE" dirty="0" err="1">
                <a:latin typeface="+mn-lt"/>
              </a:rPr>
              <a:t>training</a:t>
            </a:r>
            <a:r>
              <a:rPr lang="de-DE" dirty="0">
                <a:latin typeface="+mn-lt"/>
              </a:rPr>
              <a:t> </a:t>
            </a:r>
            <a:r>
              <a:rPr lang="de-DE" dirty="0" err="1">
                <a:latin typeface="+mn-lt"/>
              </a:rPr>
              <a:t>settings</a:t>
            </a:r>
            <a:endParaRPr lang="de-DE" dirty="0">
              <a:latin typeface="+mn-lt"/>
            </a:endParaRP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de-DE" dirty="0"/>
              <a:t>Use </a:t>
            </a:r>
            <a:r>
              <a:rPr lang="de-DE" dirty="0" err="1"/>
              <a:t>preprocessed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 err="1">
                <a:latin typeface="+mn-lt"/>
              </a:rPr>
              <a:t>Cleaning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 err="1">
                <a:latin typeface="+mn-lt"/>
              </a:rPr>
              <a:t>Summarize</a:t>
            </a:r>
            <a:endParaRPr lang="de-DE" dirty="0">
              <a:latin typeface="+mn-lt"/>
            </a:endParaRP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de-DE" dirty="0">
                <a:latin typeface="+mn-lt"/>
              </a:rPr>
              <a:t>Paraphrase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9888FE4-0A30-D33A-A08A-6199424585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23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8881B53-5902-2B20-2EA9-B76B66817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62" y="293460"/>
            <a:ext cx="8508999" cy="492443"/>
          </a:xfrm>
        </p:spPr>
        <p:txBody>
          <a:bodyPr/>
          <a:lstStyle/>
          <a:p>
            <a:r>
              <a:rPr lang="de-DE" dirty="0"/>
              <a:t>Outlook</a:t>
            </a:r>
          </a:p>
        </p:txBody>
      </p:sp>
    </p:spTree>
    <p:extLst>
      <p:ext uri="{BB962C8B-B14F-4D97-AF65-F5344CB8AC3E}">
        <p14:creationId xmlns:p14="http://schemas.microsoft.com/office/powerpoint/2010/main" val="2299484957"/>
      </p:ext>
    </p:extLst>
  </p:cSld>
  <p:clrMapOvr>
    <a:masterClrMapping/>
  </p:clrMapOvr>
</p:sld>
</file>

<file path=ppt/theme/theme1.xml><?xml version="1.0" encoding="utf-8"?>
<a:theme xmlns:a="http://schemas.openxmlformats.org/drawingml/2006/main" name="Titel 3">
  <a:themeElements>
    <a:clrScheme name="TUM">
      <a:dk1>
        <a:srgbClr val="000000"/>
      </a:dk1>
      <a:lt1>
        <a:srgbClr val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itel 1">
  <a:themeElements>
    <a:clrScheme name="TUM">
      <a:dk1>
        <a:srgbClr val="000000"/>
      </a:dk1>
      <a:lt1>
        <a:srgbClr val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itel 2">
  <a:themeElements>
    <a:clrScheme name="TUM">
      <a:dk1>
        <a:srgbClr val="000000"/>
      </a:dk1>
      <a:lt1>
        <a:srgbClr val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Inhalt">
  <a:themeElements>
    <a:clrScheme name="TUM">
      <a:dk1>
        <a:srgbClr val="000000"/>
      </a:dk1>
      <a:lt1>
        <a:srgbClr val="FFFFFF"/>
      </a:lt1>
      <a:dk2>
        <a:srgbClr val="003359"/>
      </a:dk2>
      <a:lt2>
        <a:srgbClr val="0065BD"/>
      </a:lt2>
      <a:accent1>
        <a:srgbClr val="005293"/>
      </a:accent1>
      <a:accent2>
        <a:srgbClr val="64A0C8"/>
      </a:accent2>
      <a:accent3>
        <a:srgbClr val="98C6EA"/>
      </a:accent3>
      <a:accent4>
        <a:srgbClr val="A2AD00"/>
      </a:accent4>
      <a:accent5>
        <a:srgbClr val="E37222"/>
      </a:accent5>
      <a:accent6>
        <a:srgbClr val="DAD7CB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Larissa-Design">
  <a:themeElements>
    <a:clrScheme name="Larissa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961</Words>
  <Application>Microsoft Macintosh PowerPoint</Application>
  <PresentationFormat>Bildschirmpräsentation (16:9)</PresentationFormat>
  <Paragraphs>171</Paragraphs>
  <Slides>23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4</vt:i4>
      </vt:variant>
      <vt:variant>
        <vt:lpstr>Folientitel</vt:lpstr>
      </vt:variant>
      <vt:variant>
        <vt:i4>23</vt:i4>
      </vt:variant>
    </vt:vector>
  </HeadingPairs>
  <TitlesOfParts>
    <vt:vector size="30" baseType="lpstr">
      <vt:lpstr>Arial</vt:lpstr>
      <vt:lpstr>Calibri</vt:lpstr>
      <vt:lpstr>Noto Sans Symbols</vt:lpstr>
      <vt:lpstr>Titel 3</vt:lpstr>
      <vt:lpstr>Titel 1</vt:lpstr>
      <vt:lpstr>Titel 2</vt:lpstr>
      <vt:lpstr>Inhalt</vt:lpstr>
      <vt:lpstr>Human-Centered Computing: applications in natural language processing, network science, machine learning, and AI (IN0012, IN2106, IN4906_8)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18. November 2025 Pipeline &amp; Initial Experiments</vt:lpstr>
      <vt:lpstr>Classification Model Types</vt:lpstr>
      <vt:lpstr>Encoder Models</vt:lpstr>
      <vt:lpstr>Encoder Models</vt:lpstr>
      <vt:lpstr>Encoder Models - Implementation</vt:lpstr>
      <vt:lpstr>Encoder Models - Implementation</vt:lpstr>
      <vt:lpstr>LoRA Fine-Tuned Models</vt:lpstr>
      <vt:lpstr>LoRA Fine-Tuned Models - Implementation</vt:lpstr>
      <vt:lpstr>LLM Prompting</vt:lpstr>
      <vt:lpstr>Pipeline - Requirements</vt:lpstr>
      <vt:lpstr>Pipeline - Architecture</vt:lpstr>
      <vt:lpstr>Pipeline - Technical Details</vt:lpstr>
      <vt:lpstr>Pipeline - Graph Ontology</vt:lpstr>
      <vt:lpstr>Initial Experiments</vt:lpstr>
      <vt:lpstr>Outlook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Nils Knittel</cp:lastModifiedBy>
  <cp:revision>14</cp:revision>
  <dcterms:modified xsi:type="dcterms:W3CDTF">2025-11-18T14:17:46Z</dcterms:modified>
</cp:coreProperties>
</file>