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  <p:sldMasterId id="2147483673" r:id="rId2"/>
    <p:sldMasterId id="2147483674" r:id="rId3"/>
    <p:sldMasterId id="2147483675" r:id="rId4"/>
  </p:sldMasterIdLst>
  <p:notesMasterIdLst>
    <p:notesMasterId r:id="rId26"/>
  </p:notesMasterIdLst>
  <p:sldIdLst>
    <p:sldId id="256" r:id="rId5"/>
    <p:sldId id="257" r:id="rId6"/>
    <p:sldId id="268" r:id="rId7"/>
    <p:sldId id="269" r:id="rId8"/>
    <p:sldId id="270" r:id="rId9"/>
    <p:sldId id="271" r:id="rId10"/>
    <p:sldId id="273" r:id="rId11"/>
    <p:sldId id="275" r:id="rId12"/>
    <p:sldId id="272" r:id="rId13"/>
    <p:sldId id="276" r:id="rId14"/>
    <p:sldId id="274" r:id="rId15"/>
    <p:sldId id="277" r:id="rId16"/>
    <p:sldId id="278" r:id="rId17"/>
    <p:sldId id="279" r:id="rId18"/>
    <p:sldId id="280" r:id="rId19"/>
    <p:sldId id="281" r:id="rId20"/>
    <p:sldId id="283" r:id="rId21"/>
    <p:sldId id="284" r:id="rId22"/>
    <p:sldId id="282" r:id="rId23"/>
    <p:sldId id="287" r:id="rId24"/>
    <p:sldId id="285" r:id="rId25"/>
  </p:sldIdLst>
  <p:sldSz cx="9144000" cy="5143500" type="screen16x9"/>
  <p:notesSz cx="9925050" cy="66659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4658"/>
  </p:normalViewPr>
  <p:slideViewPr>
    <p:cSldViewPr snapToGrid="0">
      <p:cViewPr varScale="1">
        <p:scale>
          <a:sx n="160" d="100"/>
          <a:sy n="160" d="100"/>
        </p:scale>
        <p:origin x="624" y="176"/>
      </p:cViewPr>
      <p:guideLst>
        <p:guide orient="horz" pos="2164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1901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:notes"/>
          <p:cNvSpPr txBox="1">
            <a:spLocks noGrp="1"/>
          </p:cNvSpPr>
          <p:nvPr>
            <p:ph type="sldNum" idx="12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rt">
  <p:cSld name="1_Star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 descr="TUM_Glockenturm.t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rt">
  <p:cSld name="1_St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 descr="TUM_Glockenturm.t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rt">
  <p:cSld name="1_Star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nhalt + Text">
  <p:cSld name="4_Inhalt +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alt + Text">
  <p:cSld name="2_Inhalt + 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wei Inhalte + Text">
  <p:cSld name="1_Zwei Inhalte +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3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wei Inhalte">
  <p:cSld name="1_zwei Inhalt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nhalt + Text">
  <p:cSld name="3_Inhalt + 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2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oße Bilder">
  <p:cSld name="1_große Bil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>
            <a:spLocks noGrp="1"/>
          </p:cNvSpPr>
          <p:nvPr>
            <p:ph type="pic" idx="2"/>
          </p:nvPr>
        </p:nvSpPr>
        <p:spPr>
          <a:xfrm>
            <a:off x="0" y="1771076"/>
            <a:ext cx="9144000" cy="3367344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ilder formatfüllend">
  <p:cSld name="1_Bilder formatfüllen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>
            <a:spLocks noGrp="1"/>
          </p:cNvSpPr>
          <p:nvPr>
            <p:ph type="pic" idx="2"/>
          </p:nvPr>
        </p:nvSpPr>
        <p:spPr>
          <a:xfrm>
            <a:off x="0" y="1222524"/>
            <a:ext cx="9144000" cy="3920975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wei Inhalte + Text (Hintergrund)">
  <p:cSld name="1_Zwei Inhalte + Text (Hintergrund)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0" y="1771076"/>
            <a:ext cx="9144000" cy="3372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20"/>
          <p:cNvSpPr>
            <a:spLocks noGrp="1"/>
          </p:cNvSpPr>
          <p:nvPr>
            <p:ph type="pic" idx="2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 txBox="1">
            <a:spLocks noGrp="1"/>
          </p:cNvSpPr>
          <p:nvPr>
            <p:ph type="body" idx="3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">
  <p:cSld name="Inhal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halt">
  <p:cSld name="1_Inhal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2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3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+ Text">
  <p:cSld name="Zwei Inhalte + 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2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pic" idx="3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4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+ Text (Hintergrund)">
  <p:cSld name="Zwei Inhalte + Text (Hintergrund)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/>
          <p:nvPr/>
        </p:nvSpPr>
        <p:spPr>
          <a:xfrm>
            <a:off x="0" y="2152650"/>
            <a:ext cx="9144000" cy="299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26"/>
          <p:cNvSpPr>
            <a:spLocks noGrp="1"/>
          </p:cNvSpPr>
          <p:nvPr>
            <p:ph type="pic" idx="2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26"/>
          <p:cNvSpPr txBox="1">
            <a:spLocks noGrp="1"/>
          </p:cNvSpPr>
          <p:nvPr>
            <p:ph type="body" idx="3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body" idx="4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ße Bilder">
  <p:cSld name="große Bilder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7"/>
          <p:cNvSpPr>
            <a:spLocks noGrp="1"/>
          </p:cNvSpPr>
          <p:nvPr>
            <p:ph type="pic" idx="2"/>
          </p:nvPr>
        </p:nvSpPr>
        <p:spPr>
          <a:xfrm>
            <a:off x="0" y="1771076"/>
            <a:ext cx="9144000" cy="3367344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3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er formatfüllend">
  <p:cSld name="Bilder formatfüllend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>
            <a:spLocks noGrp="1"/>
          </p:cNvSpPr>
          <p:nvPr>
            <p:ph type="pic" idx="2"/>
          </p:nvPr>
        </p:nvSpPr>
        <p:spPr>
          <a:xfrm>
            <a:off x="0" y="1222524"/>
            <a:ext cx="9144000" cy="3920975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2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" descr="20150416 tum logo blau png fin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8" name="Google Shape;28;p4" descr="20150416 tum logo blau png fin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18800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7" descr="Fahnen_HG.jpg"/>
          <p:cNvPicPr preferRelativeResize="0"/>
          <p:nvPr/>
        </p:nvPicPr>
        <p:blipFill rotWithShape="1">
          <a:blip r:embed="rId4">
            <a:alphaModFix/>
          </a:blip>
          <a:srcRect l="398" t="14166" b="1083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 descr="20150416 tum logo blau png fina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8800" y="324000"/>
            <a:ext cx="599513" cy="320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 descr="20150416 tum logo blau png final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together.ai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 descr="TUM_Glockenturm.t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Human-</a:t>
            </a:r>
            <a:r>
              <a:rPr lang="de-DE" dirty="0" err="1"/>
              <a:t>Centered</a:t>
            </a:r>
            <a:r>
              <a:rPr lang="de-DE"/>
              <a:t> Computing: applications in natural language processing, network science, machine learning, and AI (IN0012, IN2106, IN4906_8)</a:t>
            </a: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319100" y="3150675"/>
            <a:ext cx="3819600" cy="13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400"/>
              <a:t>CLARITY</a:t>
            </a:r>
            <a:endParaRPr sz="2400"/>
          </a:p>
          <a:p>
            <a:pPr marL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400"/>
              <a:t>Unmasking Political Question Evasions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10. November 2025</a:t>
            </a:r>
            <a:br>
              <a:rPr lang="de-DE"/>
            </a:br>
            <a:r>
              <a:rPr lang="de-DE"/>
              <a:t>Pipeline &amp; Initial Experiments</a:t>
            </a:r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4E43718-0E33-7290-D44F-716198C07E8D}"/>
              </a:ext>
            </a:extLst>
          </p:cNvPr>
          <p:cNvSpPr txBox="1"/>
          <p:nvPr/>
        </p:nvSpPr>
        <p:spPr>
          <a:xfrm>
            <a:off x="3136392" y="12252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D7D503-AC2C-CB77-6E58-1A0E7338C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91" y="1222525"/>
            <a:ext cx="3840216" cy="3463775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600" dirty="0" err="1">
                <a:latin typeface="+mn-lt"/>
              </a:rPr>
              <a:t>Automatic</a:t>
            </a:r>
            <a:r>
              <a:rPr lang="de-DE" sz="1600" dirty="0">
                <a:latin typeface="+mn-lt"/>
              </a:rPr>
              <a:t> </a:t>
            </a:r>
            <a:r>
              <a:rPr lang="de-DE" sz="1600" b="1" dirty="0" err="1">
                <a:latin typeface="+mn-lt"/>
              </a:rPr>
              <a:t>classification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of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political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answers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into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the</a:t>
            </a:r>
            <a:r>
              <a:rPr lang="de-DE" sz="1600" dirty="0">
                <a:latin typeface="+mn-lt"/>
              </a:rPr>
              <a:t> </a:t>
            </a:r>
            <a:r>
              <a:rPr lang="de-DE" sz="1600" dirty="0" err="1">
                <a:latin typeface="+mn-lt"/>
              </a:rPr>
              <a:t>categories</a:t>
            </a:r>
            <a:endParaRPr lang="de-DE" sz="1600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Clear Reply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Ambivalent Reply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sz="1600" dirty="0">
                <a:latin typeface="+mn-lt"/>
              </a:rPr>
              <a:t>Clear Non-Reply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C353CCF-7295-A228-41ED-851EB11EDB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B1A7EE9-A623-4234-92E5-65985C0B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/>
              <a:t>Refresher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852AD5D-DAB9-0D53-2258-9321196EC0A3}"/>
              </a:ext>
            </a:extLst>
          </p:cNvPr>
          <p:cNvGrpSpPr/>
          <p:nvPr/>
        </p:nvGrpSpPr>
        <p:grpSpPr>
          <a:xfrm>
            <a:off x="4159307" y="1316662"/>
            <a:ext cx="4615682" cy="3007563"/>
            <a:chOff x="7377683" y="2545773"/>
            <a:chExt cx="4311220" cy="2658656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E4E00E22-5EA0-C6C8-357C-D3954FA04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7888"/>
            <a:stretch>
              <a:fillRect/>
            </a:stretch>
          </p:blipFill>
          <p:spPr>
            <a:xfrm>
              <a:off x="7377683" y="2545773"/>
              <a:ext cx="3138768" cy="1788765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46FE6ED5-59B7-F158-A28A-A4279A643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8486" y="4349344"/>
              <a:ext cx="4210417" cy="8550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0713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D7850B-F176-145A-3A72-6C6EF3998D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FBB0468-1F18-1B62-5D6B-22BB28AD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/>
              <a:t>Classification Model </a:t>
            </a:r>
            <a:r>
              <a:rPr lang="de-DE" err="1"/>
              <a:t>Types</a:t>
            </a:r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A803D50-2237-D3EE-853D-1FA1B8582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33" y="1222525"/>
            <a:ext cx="6335534" cy="348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31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069209D-8298-371F-5D8C-31181A1A9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100" b="1" dirty="0">
                <a:solidFill>
                  <a:schemeClr val="tx2"/>
                </a:solidFill>
                <a:latin typeface="+mn-lt"/>
              </a:rPr>
              <a:t>Core Idea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convert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both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sz="1100" i="1" dirty="0" err="1">
                <a:solidFill>
                  <a:srgbClr val="000000"/>
                </a:solidFill>
                <a:latin typeface="+mn-lt"/>
              </a:rPr>
              <a:t>question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 and </a:t>
            </a:r>
            <a:r>
              <a:rPr lang="de-DE" altLang="de-DE" sz="1100" i="1" dirty="0" err="1">
                <a:solidFill>
                  <a:srgbClr val="000000"/>
                </a:solidFill>
                <a:latin typeface="+mn-lt"/>
              </a:rPr>
              <a:t>answer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sz="1100" b="1" dirty="0" err="1">
                <a:solidFill>
                  <a:srgbClr val="000000"/>
                </a:solidFill>
                <a:latin typeface="+mn-lt"/>
              </a:rPr>
              <a:t>into</a:t>
            </a:r>
            <a:r>
              <a:rPr lang="de-DE" altLang="de-DE" sz="11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b="1" dirty="0" err="1">
                <a:solidFill>
                  <a:srgbClr val="000000"/>
                </a:solidFill>
                <a:latin typeface="+mn-lt"/>
              </a:rPr>
              <a:t>contextual</a:t>
            </a:r>
            <a:r>
              <a:rPr lang="de-DE" altLang="de-DE" sz="11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b="1" dirty="0" err="1">
                <a:solidFill>
                  <a:srgbClr val="000000"/>
                </a:solidFill>
                <a:latin typeface="+mn-lt"/>
              </a:rPr>
              <a:t>embeddings</a:t>
            </a:r>
            <a:r>
              <a:rPr lang="de-DE" altLang="de-DE" sz="11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and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then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predict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one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of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clarity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classes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based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on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their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joint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representation</a:t>
            </a:r>
            <a:endParaRPr lang="de-DE" altLang="de-DE" sz="1100" dirty="0">
              <a:solidFill>
                <a:srgbClr val="000000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Typical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b="1" dirty="0">
                <a:solidFill>
                  <a:schemeClr val="tx2"/>
                </a:solidFill>
                <a:latin typeface="+mn-lt"/>
              </a:rPr>
              <a:t>Models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: </a:t>
            </a:r>
            <a:r>
              <a:rPr lang="de-DE" sz="1100" i="1" dirty="0" err="1">
                <a:latin typeface="+mn-lt"/>
              </a:rPr>
              <a:t>roberta</a:t>
            </a:r>
            <a:r>
              <a:rPr lang="de-DE" sz="1100" i="1" dirty="0">
                <a:latin typeface="+mn-lt"/>
              </a:rPr>
              <a:t>, </a:t>
            </a:r>
            <a:r>
              <a:rPr lang="de-DE" sz="1100" i="1" dirty="0" err="1">
                <a:latin typeface="+mn-lt"/>
              </a:rPr>
              <a:t>deberta</a:t>
            </a:r>
            <a:r>
              <a:rPr lang="de-DE" sz="1100" i="1" dirty="0">
                <a:latin typeface="+mn-lt"/>
              </a:rPr>
              <a:t>, </a:t>
            </a:r>
            <a:r>
              <a:rPr lang="de-DE" sz="1100" i="1" dirty="0" err="1">
                <a:latin typeface="+mn-lt"/>
              </a:rPr>
              <a:t>distilroberta</a:t>
            </a:r>
            <a:endParaRPr lang="de-DE" altLang="de-DE" sz="1100" i="1" dirty="0">
              <a:solidFill>
                <a:srgbClr val="000000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100" b="1" dirty="0">
                <a:solidFill>
                  <a:schemeClr val="tx2"/>
                </a:solidFill>
                <a:latin typeface="+mn-lt"/>
              </a:rPr>
              <a:t>Workflow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Both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question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and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answer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are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concatenated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into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one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input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sequence</a:t>
            </a:r>
            <a:endParaRPr lang="de-DE" altLang="de-DE" sz="1100" dirty="0">
              <a:solidFill>
                <a:srgbClr val="000000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The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encoder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reads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all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tokens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sz="1100" i="1" dirty="0" err="1">
                <a:solidFill>
                  <a:srgbClr val="000000"/>
                </a:solidFill>
                <a:latin typeface="+mn-lt"/>
              </a:rPr>
              <a:t>bidirectionally</a:t>
            </a:r>
            <a:r>
              <a:rPr lang="de-DE" altLang="de-DE" sz="1100" i="1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The final [CLS] 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vector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represents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combined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i="1" dirty="0" err="1">
                <a:solidFill>
                  <a:srgbClr val="000000"/>
                </a:solidFill>
                <a:latin typeface="+mn-lt"/>
              </a:rPr>
              <a:t>meaning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of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question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and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answer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A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small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classification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head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predicts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100" dirty="0" err="1">
                <a:solidFill>
                  <a:srgbClr val="000000"/>
                </a:solidFill>
                <a:latin typeface="+mn-lt"/>
              </a:rPr>
              <a:t>label</a:t>
            </a:r>
            <a:endParaRPr lang="de-DE" altLang="de-DE" sz="11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6853C-1BD5-424D-4647-17655D01E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6202F9E-C3FB-F3D4-AC15-975FB003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Encoder Models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489DC51-D42F-60A6-3B7B-CFAA6001E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00" y="3070417"/>
            <a:ext cx="7218522" cy="161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9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F18E621-6860-9DE8-22C3-AC78CA873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2"/>
                </a:solidFill>
                <a:latin typeface="+mn-lt"/>
              </a:rPr>
              <a:t>Training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Fine-tuning </a:t>
            </a:r>
            <a:r>
              <a:rPr lang="de-DE" dirty="0" err="1">
                <a:latin typeface="+mn-lt"/>
              </a:rPr>
              <a:t>adjusts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pre-trained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weights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to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Clarity </a:t>
            </a:r>
            <a:r>
              <a:rPr lang="de-DE" dirty="0" err="1">
                <a:latin typeface="+mn-lt"/>
              </a:rPr>
              <a:t>labels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chemeClr val="tx1"/>
                </a:solidFill>
                <a:latin typeface="+mn-lt"/>
              </a:rPr>
              <a:t>Mainly</a:t>
            </a:r>
            <a:r>
              <a:rPr lang="de-DE" altLang="de-DE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chemeClr val="tx1"/>
                </a:solidFill>
                <a:latin typeface="+mn-lt"/>
              </a:rPr>
              <a:t>the</a:t>
            </a:r>
            <a:r>
              <a:rPr lang="de-DE" altLang="de-DE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chemeClr val="tx1"/>
                </a:solidFill>
                <a:latin typeface="+mn-lt"/>
              </a:rPr>
              <a:t>classification</a:t>
            </a:r>
            <a:r>
              <a:rPr lang="de-DE" altLang="de-DE" i="1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chemeClr val="tx1"/>
                </a:solidFill>
                <a:latin typeface="+mn-lt"/>
              </a:rPr>
              <a:t>hea</a:t>
            </a:r>
            <a:r>
              <a:rPr lang="de-DE" altLang="de-DE" dirty="0" err="1">
                <a:solidFill>
                  <a:schemeClr val="tx1"/>
                </a:solidFill>
                <a:latin typeface="+mn-lt"/>
              </a:rPr>
              <a:t>d</a:t>
            </a:r>
            <a:r>
              <a:rPr lang="de-DE" altLang="de-DE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chemeClr val="tx1"/>
                </a:solidFill>
                <a:latin typeface="+mn-lt"/>
              </a:rPr>
              <a:t>gets</a:t>
            </a:r>
            <a:r>
              <a:rPr lang="de-DE" altLang="de-DE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chemeClr val="tx1"/>
                </a:solidFill>
                <a:latin typeface="+mn-lt"/>
              </a:rPr>
              <a:t>updated</a:t>
            </a:r>
            <a:endParaRPr lang="de-DE" altLang="de-DE" dirty="0">
              <a:solidFill>
                <a:schemeClr val="tx1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b="1" dirty="0" err="1">
                <a:solidFill>
                  <a:schemeClr val="tx2"/>
                </a:solidFill>
                <a:latin typeface="+mn-lt"/>
              </a:rPr>
              <a:t>Weaknesses</a:t>
            </a:r>
            <a:r>
              <a:rPr lang="de-DE" altLang="de-DE" dirty="0">
                <a:solidFill>
                  <a:schemeClr val="tx1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chemeClr val="tx1"/>
                </a:solidFill>
                <a:latin typeface="+mn-lt"/>
              </a:rPr>
              <a:t>for</a:t>
            </a:r>
            <a:r>
              <a:rPr lang="de-DE" altLang="de-DE" dirty="0">
                <a:solidFill>
                  <a:schemeClr val="tx1"/>
                </a:solidFill>
                <a:latin typeface="+mn-lt"/>
              </a:rPr>
              <a:t> Task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Encoder-</a:t>
            </a:r>
            <a:r>
              <a:rPr lang="de-DE" dirty="0" err="1">
                <a:latin typeface="+mn-lt"/>
              </a:rPr>
              <a:t>only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models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learn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text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similarity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topic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alignment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response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patterns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The </a:t>
            </a:r>
            <a:r>
              <a:rPr lang="de-DE" dirty="0" err="1">
                <a:latin typeface="+mn-lt"/>
              </a:rPr>
              <a:t>models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have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no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deep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understanding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of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intention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context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or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relevance</a:t>
            </a:r>
            <a:r>
              <a:rPr lang="de-DE" dirty="0">
                <a:latin typeface="+mn-lt"/>
              </a:rPr>
              <a:t>. </a:t>
            </a:r>
            <a:r>
              <a:rPr lang="de-DE" dirty="0" err="1">
                <a:latin typeface="+mn-lt"/>
              </a:rPr>
              <a:t>They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recognize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correlations</a:t>
            </a:r>
            <a:r>
              <a:rPr lang="de-DE" dirty="0">
                <a:latin typeface="+mn-lt"/>
              </a:rPr>
              <a:t>, not </a:t>
            </a:r>
            <a:r>
              <a:rPr lang="de-DE" dirty="0" err="1">
                <a:latin typeface="+mn-lt"/>
              </a:rPr>
              <a:t>causality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Evasion </a:t>
            </a:r>
            <a:r>
              <a:rPr lang="de-DE" dirty="0" err="1">
                <a:latin typeface="+mn-lt"/>
              </a:rPr>
              <a:t>detection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is</a:t>
            </a:r>
            <a:r>
              <a:rPr lang="de-DE" dirty="0">
                <a:latin typeface="+mn-lt"/>
              </a:rPr>
              <a:t> not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same </a:t>
            </a:r>
            <a:r>
              <a:rPr lang="de-DE" dirty="0" err="1">
                <a:latin typeface="+mn-lt"/>
              </a:rPr>
              <a:t>as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semantic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matching</a:t>
            </a:r>
            <a:endParaRPr lang="de-DE" dirty="0"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EBF72E4-B9D6-F656-CCD0-1518FFE840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59EAC2B-0F69-F356-2E8E-40790262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Encoder Models</a:t>
            </a:r>
          </a:p>
        </p:txBody>
      </p:sp>
    </p:spTree>
    <p:extLst>
      <p:ext uri="{BB962C8B-B14F-4D97-AF65-F5344CB8AC3E}">
        <p14:creationId xmlns:p14="http://schemas.microsoft.com/office/powerpoint/2010/main" val="1323239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2502C47-132A-C547-5F09-910815B3A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91" y="1222525"/>
            <a:ext cx="4481509" cy="3463775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b="1" dirty="0">
                <a:latin typeface="+mn-lt"/>
              </a:rPr>
              <a:t>Python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submodule</a:t>
            </a:r>
            <a:r>
              <a:rPr lang="de-DE" dirty="0">
                <a:latin typeface="+mn-lt"/>
              </a:rPr>
              <a:t> in </a:t>
            </a:r>
            <a:r>
              <a:rPr lang="de-DE" dirty="0" err="1">
                <a:latin typeface="+mn-lt"/>
              </a:rPr>
              <a:t>repository</a:t>
            </a:r>
            <a:endParaRPr lang="de-DE" b="1" dirty="0">
              <a:solidFill>
                <a:schemeClr val="tx2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tx2"/>
                </a:solidFill>
                <a:latin typeface="+mn-lt"/>
              </a:rPr>
              <a:t>clarity</a:t>
            </a:r>
            <a:r>
              <a:rPr lang="de-DE" b="1" dirty="0">
                <a:solidFill>
                  <a:schemeClr val="tx2"/>
                </a:solidFill>
                <a:latin typeface="+mn-lt"/>
              </a:rPr>
              <a:t>-models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b="1" dirty="0" err="1">
                <a:solidFill>
                  <a:schemeClr val="tx1"/>
                </a:solidFill>
                <a:latin typeface="+mn-lt"/>
              </a:rPr>
              <a:t>Dependencies</a:t>
            </a:r>
            <a:endParaRPr lang="de-DE" altLang="de-DE" b="1" dirty="0">
              <a:solidFill>
                <a:schemeClr val="tx1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transformers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, 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torch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, 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fastapi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, 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uvicorn</a:t>
            </a:r>
            <a:endParaRPr lang="de-DE" altLang="de-DE" dirty="0">
              <a:solidFill>
                <a:srgbClr val="000000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sz="800" dirty="0" err="1">
                <a:latin typeface="+mn-lt"/>
              </a:rPr>
              <a:t>datasets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accelerate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loguru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peft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PyYAML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bitsandbytes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sentencepiece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tensorboard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openai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requests</a:t>
            </a:r>
            <a:r>
              <a:rPr lang="de-DE" sz="800" dirty="0">
                <a:latin typeface="+mn-lt"/>
              </a:rPr>
              <a:t>, </a:t>
            </a:r>
            <a:r>
              <a:rPr lang="de-DE" sz="800" dirty="0" err="1">
                <a:latin typeface="+mn-lt"/>
              </a:rPr>
              <a:t>scikit-learn</a:t>
            </a:r>
            <a:endParaRPr lang="de-DE" altLang="de-DE" sz="800" dirty="0">
              <a:solidFill>
                <a:schemeClr val="tx1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n-lt"/>
              </a:rPr>
              <a:t>Provides</a:t>
            </a:r>
            <a:r>
              <a:rPr lang="de-DE" dirty="0">
                <a:latin typeface="+mn-lt"/>
              </a:rPr>
              <a:t> a </a:t>
            </a:r>
            <a:r>
              <a:rPr lang="de-DE" b="1" dirty="0" err="1">
                <a:latin typeface="+mn-lt"/>
              </a:rPr>
              <a:t>configurable</a:t>
            </a:r>
            <a:r>
              <a:rPr lang="de-DE" b="1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framework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for</a:t>
            </a:r>
            <a:r>
              <a:rPr lang="de-DE" dirty="0">
                <a:latin typeface="+mn-lt"/>
              </a:rPr>
              <a:t> </a:t>
            </a:r>
            <a:r>
              <a:rPr lang="de-DE" i="1" dirty="0" err="1">
                <a:latin typeface="+mn-lt"/>
              </a:rPr>
              <a:t>training</a:t>
            </a:r>
            <a:r>
              <a:rPr lang="de-DE" dirty="0">
                <a:latin typeface="+mn-lt"/>
              </a:rPr>
              <a:t> and </a:t>
            </a:r>
            <a:r>
              <a:rPr lang="de-DE" i="1" dirty="0" err="1">
                <a:latin typeface="+mn-lt"/>
              </a:rPr>
              <a:t>serving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models</a:t>
            </a:r>
            <a:endParaRPr lang="de-DE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Make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implementation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as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dynamic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as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possible in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order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train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models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with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different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settings</a:t>
            </a:r>
            <a:endParaRPr lang="de-DE" altLang="de-DE" dirty="0">
              <a:solidFill>
                <a:srgbClr val="000000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Define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model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configurations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in a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config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file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and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rest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is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dynamically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handled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by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framework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. 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340EB10-3DB3-3C6E-0A0F-E62D99F8F2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7FA9E12-D765-6130-B392-A5CF0E0B1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Encoder Models - Implementation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B56461B-2741-B335-FB15-A1365AD54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651" y="1386265"/>
            <a:ext cx="2099033" cy="346377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D96782B-23CF-6444-EF4A-E89AAF28C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369" y="941033"/>
            <a:ext cx="1571791" cy="391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4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7C663F-F22D-69A8-2522-1E10A95178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8A44F8-DEB4-CA48-1C05-D62EBC8F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Encoder Models - Implementation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44431BC-7CB4-7D63-8615-1A9AC1A18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26" y="1391478"/>
            <a:ext cx="8483467" cy="310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37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805B9E8-8D6A-D48C-686D-BB438D932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2"/>
                </a:solidFill>
                <a:latin typeface="+mn-lt"/>
              </a:rPr>
              <a:t>Core Idea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b="1" dirty="0" err="1">
                <a:solidFill>
                  <a:srgbClr val="000000"/>
                </a:solidFill>
                <a:latin typeface="+mn-lt"/>
              </a:rPr>
              <a:t>LoRA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(Low-Rank Adaptation)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fine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-tuning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lets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you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teach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a large LLM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new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classification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behavior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without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updating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all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its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billions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of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parameters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b="1" dirty="0">
                <a:solidFill>
                  <a:schemeClr val="tx2"/>
                </a:solidFill>
                <a:latin typeface="+mn-lt"/>
              </a:rPr>
              <a:t>Workflow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rgbClr val="000000"/>
                </a:solidFill>
                <a:latin typeface="+mn-lt"/>
              </a:rPr>
              <a:t>Start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from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a large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pre-trained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LLM (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decoder-based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, like OPT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or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Llama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) and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freeze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original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weights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Inject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small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trainable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adapter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matrices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attention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and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feed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-forward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layers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During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fine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-tuning,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only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those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adapters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are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updated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>
                <a:solidFill>
                  <a:srgbClr val="000000"/>
                </a:solidFill>
                <a:latin typeface="+mn-lt"/>
              </a:rPr>
              <a:t>The LLM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learns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patterns</a:t>
            </a:r>
            <a:r>
              <a:rPr lang="de-DE" altLang="de-DE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within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QA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pairs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through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its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natural</a:t>
            </a:r>
            <a:r>
              <a:rPr lang="de-DE" altLang="de-DE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language</a:t>
            </a:r>
            <a:r>
              <a:rPr lang="de-DE" altLang="de-DE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reasoning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.</a:t>
            </a:r>
            <a:endParaRPr lang="de-DE" altLang="de-DE" dirty="0">
              <a:solidFill>
                <a:schemeClr val="tx1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2"/>
                </a:solidFill>
                <a:latin typeface="+mn-lt"/>
              </a:rPr>
              <a:t>Training </a:t>
            </a:r>
            <a:r>
              <a:rPr lang="de-DE" b="1" dirty="0" err="1">
                <a:solidFill>
                  <a:schemeClr val="tx2"/>
                </a:solidFill>
                <a:latin typeface="+mn-lt"/>
              </a:rPr>
              <a:t>objective</a:t>
            </a:r>
            <a:endParaRPr lang="de-DE" b="1" dirty="0">
              <a:solidFill>
                <a:schemeClr val="tx2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b="1" dirty="0">
                <a:solidFill>
                  <a:srgbClr val="000000"/>
                </a:solidFill>
                <a:latin typeface="+mn-lt"/>
              </a:rPr>
              <a:t>Input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: natural-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language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prompt (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context</a:t>
            </a:r>
            <a:r>
              <a:rPr lang="de-DE" altLang="de-DE" i="1" dirty="0">
                <a:solidFill>
                  <a:srgbClr val="000000"/>
                </a:solidFill>
                <a:latin typeface="+mn-lt"/>
              </a:rPr>
              <a:t> + 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question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).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b="1" dirty="0">
                <a:solidFill>
                  <a:srgbClr val="000000"/>
                </a:solidFill>
                <a:latin typeface="+mn-lt"/>
              </a:rPr>
              <a:t>Output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: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textual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label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like “Label: Clear Reply”.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Trained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complete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prompts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with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correct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+mn-lt"/>
              </a:rPr>
              <a:t>labels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 (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sequence-to-sequence</a:t>
            </a:r>
            <a:r>
              <a:rPr lang="de-DE" altLang="de-DE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i="1" dirty="0" err="1">
                <a:solidFill>
                  <a:srgbClr val="000000"/>
                </a:solidFill>
                <a:latin typeface="+mn-lt"/>
              </a:rPr>
              <a:t>objective</a:t>
            </a:r>
            <a:r>
              <a:rPr lang="de-DE" altLang="de-DE" dirty="0">
                <a:solidFill>
                  <a:srgbClr val="000000"/>
                </a:solidFill>
                <a:latin typeface="+mn-lt"/>
              </a:rPr>
              <a:t>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altLang="de-DE" dirty="0">
              <a:solidFill>
                <a:schemeClr val="tx1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294639-9E7C-C225-1A8B-4286AC76D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C67B605-0E25-1817-68D5-D41E65BF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 err="1"/>
              <a:t>LoRA</a:t>
            </a:r>
            <a:r>
              <a:rPr lang="de-DE" dirty="0"/>
              <a:t> Fine-</a:t>
            </a:r>
            <a:r>
              <a:rPr lang="de-DE" dirty="0" err="1"/>
              <a:t>Tuned</a:t>
            </a:r>
            <a:r>
              <a:rPr lang="de-DE" dirty="0"/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263078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7FABB29-05D8-AD36-C5A8-6C486E136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162" y="1117278"/>
            <a:ext cx="4702490" cy="3732762"/>
          </a:xfrm>
        </p:spPr>
        <p:txBody>
          <a:bodyPr/>
          <a:lstStyle/>
          <a:p>
            <a:pPr marL="400050" indent="-171450">
              <a:buFont typeface="Arial" panose="020B0604020202020204" pitchFamily="34" charset="0"/>
              <a:buChar char="•"/>
            </a:pPr>
            <a:r>
              <a:rPr lang="de-DE" sz="1300" dirty="0" err="1">
                <a:latin typeface="+mn-lt"/>
              </a:rPr>
              <a:t>Initally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training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locally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with</a:t>
            </a:r>
            <a:r>
              <a:rPr lang="de-DE" sz="1300" dirty="0">
                <a:latin typeface="+mn-lt"/>
              </a:rPr>
              <a:t> </a:t>
            </a:r>
            <a:r>
              <a:rPr lang="de-DE" sz="1300" b="1" dirty="0" err="1">
                <a:solidFill>
                  <a:schemeClr val="tx2"/>
                </a:solidFill>
                <a:latin typeface="+mn-lt"/>
              </a:rPr>
              <a:t>clarity</a:t>
            </a:r>
            <a:r>
              <a:rPr lang="de-DE" sz="1300" b="1" dirty="0">
                <a:solidFill>
                  <a:schemeClr val="tx2"/>
                </a:solidFill>
                <a:latin typeface="+mn-lt"/>
              </a:rPr>
              <a:t>-models</a:t>
            </a:r>
            <a:r>
              <a:rPr lang="de-DE" sz="1300" dirty="0">
                <a:latin typeface="+mn-lt"/>
              </a:rPr>
              <a:t> </a:t>
            </a:r>
            <a:r>
              <a:rPr lang="de-DE" sz="1300" b="1" dirty="0" err="1">
                <a:latin typeface="+mn-lt"/>
              </a:rPr>
              <a:t>module</a:t>
            </a:r>
            <a:endParaRPr lang="de-DE" sz="1300" b="1" dirty="0">
              <a:latin typeface="+mn-lt"/>
            </a:endParaRPr>
          </a:p>
          <a:p>
            <a:pPr marL="400050" lvl="4" indent="-171450">
              <a:buFont typeface="Arial" panose="020B0604020202020204" pitchFamily="34" charset="0"/>
              <a:buChar char="•"/>
            </a:pPr>
            <a:r>
              <a:rPr lang="de-DE" sz="1300" dirty="0" err="1">
                <a:latin typeface="+mn-lt"/>
              </a:rPr>
              <a:t>Similar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workflow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as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the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encoder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models</a:t>
            </a:r>
            <a:endParaRPr lang="de-DE" sz="1300" dirty="0">
              <a:latin typeface="+mn-lt"/>
            </a:endParaRPr>
          </a:p>
          <a:p>
            <a:pPr marL="400050" lvl="4" indent="-171450">
              <a:buFont typeface="Arial" panose="020B0604020202020204" pitchFamily="34" charset="0"/>
              <a:buChar char="•"/>
            </a:pPr>
            <a:r>
              <a:rPr lang="de-DE" sz="1300" dirty="0" err="1">
                <a:latin typeface="+mn-lt"/>
              </a:rPr>
              <a:t>Useless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because</a:t>
            </a:r>
            <a:r>
              <a:rPr lang="de-DE" sz="1300" dirty="0">
                <a:latin typeface="+mn-lt"/>
              </a:rPr>
              <a:t> larger </a:t>
            </a:r>
            <a:r>
              <a:rPr lang="de-DE" sz="1300" dirty="0" err="1">
                <a:latin typeface="+mn-lt"/>
              </a:rPr>
              <a:t>models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can</a:t>
            </a:r>
            <a:r>
              <a:rPr lang="de-DE" sz="1300" dirty="0">
                <a:latin typeface="+mn-lt"/>
              </a:rPr>
              <a:t> not </a:t>
            </a:r>
            <a:r>
              <a:rPr lang="de-DE" sz="1300" dirty="0" err="1">
                <a:latin typeface="+mn-lt"/>
              </a:rPr>
              <a:t>be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trained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locally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or</a:t>
            </a:r>
            <a:r>
              <a:rPr lang="de-DE" sz="1300" dirty="0">
                <a:latin typeface="+mn-lt"/>
              </a:rPr>
              <a:t> on </a:t>
            </a:r>
            <a:r>
              <a:rPr lang="de-DE" sz="1300" dirty="0" err="1">
                <a:latin typeface="+mn-lt"/>
              </a:rPr>
              <a:t>Colab</a:t>
            </a:r>
            <a:endParaRPr lang="de-DE" sz="1300" dirty="0">
              <a:latin typeface="+mn-lt"/>
            </a:endParaRPr>
          </a:p>
          <a:p>
            <a:pPr marL="400050" lvl="4" indent="-171450">
              <a:buFont typeface="Arial" panose="020B0604020202020204" pitchFamily="34" charset="0"/>
              <a:buChar char="•"/>
            </a:pPr>
            <a:r>
              <a:rPr lang="de-DE" sz="1300" b="1" dirty="0">
                <a:latin typeface="+mn-lt"/>
              </a:rPr>
              <a:t>Solution</a:t>
            </a:r>
            <a:r>
              <a:rPr lang="de-DE" sz="1300" dirty="0">
                <a:latin typeface="+mn-lt"/>
              </a:rPr>
              <a:t>: Use a Model Provider </a:t>
            </a:r>
            <a:r>
              <a:rPr lang="de-DE" sz="1300" dirty="0" err="1">
                <a:latin typeface="+mn-lt"/>
              </a:rPr>
              <a:t>that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allows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the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fine</a:t>
            </a:r>
            <a:r>
              <a:rPr lang="de-DE" sz="1300" dirty="0">
                <a:latin typeface="+mn-lt"/>
              </a:rPr>
              <a:t>-tuning </a:t>
            </a:r>
            <a:r>
              <a:rPr lang="de-DE" sz="1300" dirty="0" err="1">
                <a:latin typeface="+mn-lt"/>
              </a:rPr>
              <a:t>of</a:t>
            </a:r>
            <a:r>
              <a:rPr lang="de-DE" sz="1300" dirty="0">
                <a:latin typeface="+mn-lt"/>
              </a:rPr>
              <a:t> </a:t>
            </a:r>
            <a:r>
              <a:rPr lang="de-DE" sz="1300" b="1" dirty="0">
                <a:latin typeface="+mn-lt"/>
              </a:rPr>
              <a:t>Open Source Models</a:t>
            </a:r>
          </a:p>
          <a:p>
            <a:pPr marL="857250" lvl="5" indent="-171450">
              <a:buFont typeface="Arial" panose="020B0604020202020204" pitchFamily="34" charset="0"/>
              <a:buChar char="•"/>
            </a:pPr>
            <a:r>
              <a:rPr lang="de-DE" sz="1300" b="1" dirty="0" err="1">
                <a:solidFill>
                  <a:schemeClr val="tx2"/>
                </a:solidFill>
                <a:latin typeface="+mn-lt"/>
              </a:rPr>
              <a:t>Together</a:t>
            </a:r>
            <a:r>
              <a:rPr lang="de-DE" sz="1300" b="1" dirty="0">
                <a:solidFill>
                  <a:schemeClr val="tx2"/>
                </a:solidFill>
                <a:latin typeface="+mn-lt"/>
              </a:rPr>
              <a:t> API </a:t>
            </a:r>
            <a:r>
              <a:rPr lang="de-DE" sz="1300" dirty="0">
                <a:latin typeface="+mn-lt"/>
              </a:rPr>
              <a:t>(</a:t>
            </a:r>
            <a:r>
              <a:rPr lang="de-DE" sz="1300" dirty="0">
                <a:latin typeface="+mn-lt"/>
                <a:hlinkClick r:id="rId2"/>
              </a:rPr>
              <a:t>https://together.ai</a:t>
            </a:r>
            <a:r>
              <a:rPr lang="de-DE" sz="1300" dirty="0">
                <a:latin typeface="+mn-lt"/>
              </a:rPr>
              <a:t>): Service </a:t>
            </a:r>
            <a:r>
              <a:rPr lang="de-DE" sz="1300" dirty="0" err="1">
                <a:latin typeface="+mn-lt"/>
              </a:rPr>
              <a:t>for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training</a:t>
            </a:r>
            <a:r>
              <a:rPr lang="de-DE" sz="1300" dirty="0">
                <a:latin typeface="+mn-lt"/>
              </a:rPr>
              <a:t>, </a:t>
            </a:r>
            <a:r>
              <a:rPr lang="de-DE" sz="1300" dirty="0" err="1">
                <a:latin typeface="+mn-lt"/>
              </a:rPr>
              <a:t>fine</a:t>
            </a:r>
            <a:r>
              <a:rPr lang="de-DE" sz="1300" dirty="0">
                <a:latin typeface="+mn-lt"/>
              </a:rPr>
              <a:t>-tuning and </a:t>
            </a:r>
            <a:r>
              <a:rPr lang="de-DE" sz="1300" dirty="0" err="1">
                <a:latin typeface="+mn-lt"/>
              </a:rPr>
              <a:t>inference</a:t>
            </a:r>
            <a:r>
              <a:rPr lang="de-DE" sz="1300" dirty="0">
                <a:latin typeface="+mn-lt"/>
              </a:rPr>
              <a:t> on open-source </a:t>
            </a:r>
            <a:r>
              <a:rPr lang="de-DE" sz="1300" dirty="0" err="1">
                <a:latin typeface="+mn-lt"/>
              </a:rPr>
              <a:t>models</a:t>
            </a:r>
            <a:endParaRPr lang="de-DE" sz="1300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300" dirty="0" err="1">
                <a:latin typeface="+mn-lt"/>
              </a:rPr>
              <a:t>Prepare</a:t>
            </a:r>
            <a:r>
              <a:rPr lang="de-DE" sz="1300" dirty="0">
                <a:latin typeface="+mn-lt"/>
              </a:rPr>
              <a:t> </a:t>
            </a:r>
            <a:r>
              <a:rPr lang="de-DE" sz="1300" b="1" dirty="0" err="1">
                <a:latin typeface="+mn-lt"/>
              </a:rPr>
              <a:t>dataset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for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training</a:t>
            </a:r>
            <a:br>
              <a:rPr lang="de-DE" sz="1300" dirty="0">
                <a:latin typeface="+mn-lt"/>
              </a:rPr>
            </a:br>
            <a:r>
              <a:rPr lang="de-DE" sz="1300" dirty="0">
                <a:latin typeface="+mn-lt"/>
              </a:rPr>
              <a:t>	</a:t>
            </a:r>
            <a:r>
              <a:rPr lang="de-DE" sz="700" dirty="0">
                <a:latin typeface="+mn-lt"/>
              </a:rPr>
              <a:t>{ "prompt": "&lt;prompt-text-</a:t>
            </a:r>
            <a:r>
              <a:rPr lang="de-DE" sz="700" dirty="0" err="1">
                <a:latin typeface="+mn-lt"/>
              </a:rPr>
              <a:t>with</a:t>
            </a:r>
            <a:r>
              <a:rPr lang="de-DE" sz="700" dirty="0">
                <a:latin typeface="+mn-lt"/>
              </a:rPr>
              <a:t>-</a:t>
            </a:r>
            <a:r>
              <a:rPr lang="de-DE" sz="700" dirty="0" err="1">
                <a:latin typeface="+mn-lt"/>
              </a:rPr>
              <a:t>answer</a:t>
            </a:r>
            <a:r>
              <a:rPr lang="de-DE" sz="700" dirty="0">
                <a:latin typeface="+mn-lt"/>
              </a:rPr>
              <a:t>-and-</a:t>
            </a:r>
            <a:r>
              <a:rPr lang="de-DE" sz="700" dirty="0" err="1">
                <a:latin typeface="+mn-lt"/>
              </a:rPr>
              <a:t>question</a:t>
            </a:r>
            <a:r>
              <a:rPr lang="de-DE" sz="700" dirty="0">
                <a:latin typeface="+mn-lt"/>
              </a:rPr>
              <a:t>&gt;", "</a:t>
            </a:r>
            <a:r>
              <a:rPr lang="de-DE" sz="700" dirty="0" err="1">
                <a:latin typeface="+mn-lt"/>
              </a:rPr>
              <a:t>completion</a:t>
            </a:r>
            <a:r>
              <a:rPr lang="de-DE" sz="700" dirty="0">
                <a:latin typeface="+mn-lt"/>
              </a:rPr>
              <a:t>": "Label: &lt;</a:t>
            </a:r>
            <a:r>
              <a:rPr lang="de-DE" sz="700" dirty="0" err="1">
                <a:latin typeface="+mn-lt"/>
              </a:rPr>
              <a:t>clarity_label</a:t>
            </a:r>
            <a:r>
              <a:rPr lang="de-DE" sz="700" dirty="0">
                <a:latin typeface="+mn-lt"/>
              </a:rPr>
              <a:t>&gt;" }</a:t>
            </a:r>
            <a:br>
              <a:rPr lang="de-DE" sz="700" dirty="0">
                <a:latin typeface="+mn-lt"/>
              </a:rPr>
            </a:br>
            <a:r>
              <a:rPr lang="de-DE" sz="700" dirty="0">
                <a:latin typeface="+mn-lt"/>
              </a:rPr>
              <a:t>	{ "prompt": "&lt;prompt-text-</a:t>
            </a:r>
            <a:r>
              <a:rPr lang="de-DE" sz="700" dirty="0" err="1">
                <a:latin typeface="+mn-lt"/>
              </a:rPr>
              <a:t>with</a:t>
            </a:r>
            <a:r>
              <a:rPr lang="de-DE" sz="700" dirty="0">
                <a:latin typeface="+mn-lt"/>
              </a:rPr>
              <a:t>-</a:t>
            </a:r>
            <a:r>
              <a:rPr lang="de-DE" sz="700" dirty="0" err="1">
                <a:latin typeface="+mn-lt"/>
              </a:rPr>
              <a:t>answer</a:t>
            </a:r>
            <a:r>
              <a:rPr lang="de-DE" sz="700" dirty="0">
                <a:latin typeface="+mn-lt"/>
              </a:rPr>
              <a:t>-and-</a:t>
            </a:r>
            <a:r>
              <a:rPr lang="de-DE" sz="700" dirty="0" err="1">
                <a:latin typeface="+mn-lt"/>
              </a:rPr>
              <a:t>question</a:t>
            </a:r>
            <a:r>
              <a:rPr lang="de-DE" sz="700" dirty="0">
                <a:latin typeface="+mn-lt"/>
              </a:rPr>
              <a:t>&gt;", "</a:t>
            </a:r>
            <a:r>
              <a:rPr lang="de-DE" sz="700" dirty="0" err="1">
                <a:latin typeface="+mn-lt"/>
              </a:rPr>
              <a:t>completion</a:t>
            </a:r>
            <a:r>
              <a:rPr lang="de-DE" sz="700" dirty="0">
                <a:latin typeface="+mn-lt"/>
              </a:rPr>
              <a:t>": "Label: &lt;</a:t>
            </a:r>
            <a:r>
              <a:rPr lang="de-DE" sz="700" dirty="0" err="1">
                <a:latin typeface="+mn-lt"/>
              </a:rPr>
              <a:t>clarity_label</a:t>
            </a:r>
            <a:r>
              <a:rPr lang="de-DE" sz="700" dirty="0">
                <a:latin typeface="+mn-lt"/>
              </a:rPr>
              <a:t>&gt;" }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300" dirty="0" err="1">
                <a:latin typeface="+mn-lt"/>
              </a:rPr>
              <a:t>Together</a:t>
            </a:r>
            <a:r>
              <a:rPr lang="de-DE" sz="1300" dirty="0">
                <a:latin typeface="+mn-lt"/>
              </a:rPr>
              <a:t> AI </a:t>
            </a:r>
            <a:r>
              <a:rPr lang="de-DE" sz="1300" dirty="0" err="1">
                <a:latin typeface="+mn-lt"/>
              </a:rPr>
              <a:t>provides</a:t>
            </a:r>
            <a:r>
              <a:rPr lang="de-DE" sz="1300" dirty="0">
                <a:latin typeface="+mn-lt"/>
              </a:rPr>
              <a:t> a </a:t>
            </a:r>
            <a:r>
              <a:rPr lang="de-DE" sz="1300" b="1" dirty="0" err="1">
                <a:latin typeface="+mn-lt"/>
              </a:rPr>
              <a:t>dedicated</a:t>
            </a:r>
            <a:r>
              <a:rPr lang="de-DE" sz="1300" b="1" dirty="0">
                <a:latin typeface="+mn-lt"/>
              </a:rPr>
              <a:t> </a:t>
            </a:r>
            <a:r>
              <a:rPr lang="de-DE" sz="1300" b="1" dirty="0" err="1">
                <a:latin typeface="+mn-lt"/>
              </a:rPr>
              <a:t>endpoint</a:t>
            </a:r>
            <a:r>
              <a:rPr lang="de-DE" sz="1300" b="1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to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access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the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fine-tuned</a:t>
            </a:r>
            <a:r>
              <a:rPr lang="de-DE" sz="1300" dirty="0">
                <a:latin typeface="+mn-lt"/>
              </a:rPr>
              <a:t> </a:t>
            </a:r>
            <a:r>
              <a:rPr lang="de-DE" sz="1300" dirty="0" err="1">
                <a:latin typeface="+mn-lt"/>
              </a:rPr>
              <a:t>model</a:t>
            </a:r>
            <a:endParaRPr lang="de-DE" sz="1300" dirty="0"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3DEED78-3296-A35A-34BC-90BB6061AB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10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BF7B5F3-9536-5F49-BEFD-91E34977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 err="1"/>
              <a:t>LoRA</a:t>
            </a:r>
            <a:r>
              <a:rPr lang="de-DE" dirty="0"/>
              <a:t> Fine-</a:t>
            </a:r>
            <a:r>
              <a:rPr lang="de-DE" dirty="0" err="1"/>
              <a:t>Tuned</a:t>
            </a:r>
            <a:r>
              <a:rPr lang="de-DE" dirty="0"/>
              <a:t> Models - Implementation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C0123BA-9F73-8EFC-4E49-A8A6E06C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52" y="1072597"/>
            <a:ext cx="3880873" cy="349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1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25F92C4-9569-079E-06D5-5625D8AA5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90" y="1222525"/>
            <a:ext cx="5647369" cy="3463775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500" b="1" dirty="0">
                <a:solidFill>
                  <a:schemeClr val="tx2"/>
                </a:solidFill>
                <a:latin typeface="+mn-lt"/>
              </a:rPr>
              <a:t>Core Idea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sz="1500" dirty="0">
                <a:latin typeface="+mn-lt"/>
              </a:rPr>
              <a:t>Use LLMs </a:t>
            </a:r>
            <a:r>
              <a:rPr lang="de-DE" sz="1500" dirty="0" err="1">
                <a:latin typeface="+mn-lt"/>
              </a:rPr>
              <a:t>as</a:t>
            </a:r>
            <a:r>
              <a:rPr lang="de-DE" sz="1500" dirty="0">
                <a:latin typeface="+mn-lt"/>
              </a:rPr>
              <a:t> </a:t>
            </a:r>
            <a:r>
              <a:rPr lang="de-DE" sz="1500" dirty="0" err="1">
                <a:latin typeface="+mn-lt"/>
              </a:rPr>
              <a:t>reasoning</a:t>
            </a:r>
            <a:r>
              <a:rPr lang="de-DE" sz="1500" dirty="0">
                <a:latin typeface="+mn-lt"/>
              </a:rPr>
              <a:t> </a:t>
            </a:r>
            <a:r>
              <a:rPr lang="de-DE" sz="1500" dirty="0" err="1">
                <a:latin typeface="+mn-lt"/>
              </a:rPr>
              <a:t>engines</a:t>
            </a:r>
            <a:r>
              <a:rPr lang="de-DE" sz="1500" dirty="0">
                <a:latin typeface="+mn-lt"/>
              </a:rPr>
              <a:t> via </a:t>
            </a:r>
            <a:r>
              <a:rPr lang="de-DE" sz="1500" dirty="0" err="1">
                <a:latin typeface="+mn-lt"/>
              </a:rPr>
              <a:t>prompts</a:t>
            </a:r>
            <a:r>
              <a:rPr lang="de-DE" sz="1500" dirty="0">
                <a:latin typeface="+mn-lt"/>
              </a:rPr>
              <a:t>. </a:t>
            </a:r>
            <a:r>
              <a:rPr lang="de-DE" sz="1500" dirty="0" err="1">
                <a:latin typeface="+mn-lt"/>
              </a:rPr>
              <a:t>No</a:t>
            </a:r>
            <a:r>
              <a:rPr lang="de-DE" sz="1500" dirty="0">
                <a:latin typeface="+mn-lt"/>
              </a:rPr>
              <a:t> </a:t>
            </a:r>
            <a:r>
              <a:rPr lang="de-DE" sz="1500" dirty="0" err="1">
                <a:latin typeface="+mn-lt"/>
              </a:rPr>
              <a:t>training</a:t>
            </a:r>
            <a:r>
              <a:rPr lang="de-DE" sz="1500" dirty="0">
                <a:latin typeface="+mn-lt"/>
              </a:rPr>
              <a:t> </a:t>
            </a:r>
            <a:r>
              <a:rPr lang="de-DE" sz="1500" dirty="0" err="1">
                <a:latin typeface="+mn-lt"/>
              </a:rPr>
              <a:t>necessary</a:t>
            </a:r>
            <a:r>
              <a:rPr lang="de-DE" sz="1500" dirty="0">
                <a:latin typeface="+mn-lt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500" dirty="0" err="1">
                <a:latin typeface="+mn-lt"/>
              </a:rPr>
              <a:t>Typical</a:t>
            </a:r>
            <a:r>
              <a:rPr lang="de-DE" sz="1500" dirty="0">
                <a:latin typeface="+mn-lt"/>
              </a:rPr>
              <a:t> </a:t>
            </a:r>
            <a:r>
              <a:rPr lang="de-DE" sz="1500" b="1" dirty="0">
                <a:solidFill>
                  <a:schemeClr val="tx2"/>
                </a:solidFill>
                <a:latin typeface="+mn-lt"/>
              </a:rPr>
              <a:t>Models</a:t>
            </a:r>
            <a:r>
              <a:rPr lang="de-DE" sz="1500" dirty="0">
                <a:latin typeface="+mn-lt"/>
              </a:rPr>
              <a:t>: </a:t>
            </a:r>
            <a:r>
              <a:rPr lang="de-DE" sz="1500" i="1" dirty="0">
                <a:latin typeface="+mn-lt"/>
              </a:rPr>
              <a:t>gpt-5, gpt-oss-120b,  claude-4.5-sonnet, LLaMA 70B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Prompting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b="1" dirty="0" err="1">
                <a:solidFill>
                  <a:srgbClr val="000000"/>
                </a:solidFill>
                <a:latin typeface="+mn-lt"/>
              </a:rPr>
              <a:t>modes</a:t>
            </a:r>
            <a:endParaRPr lang="de-DE" altLang="de-DE" sz="1500" b="1" dirty="0">
              <a:solidFill>
                <a:srgbClr val="000000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500" b="1" dirty="0">
                <a:solidFill>
                  <a:srgbClr val="000000"/>
                </a:solidFill>
                <a:latin typeface="+mn-lt"/>
              </a:rPr>
              <a:t>Zero-</a:t>
            </a:r>
            <a:r>
              <a:rPr lang="de-DE" altLang="de-DE" sz="1500" b="1" dirty="0" err="1">
                <a:solidFill>
                  <a:srgbClr val="000000"/>
                </a:solidFill>
                <a:latin typeface="+mn-lt"/>
              </a:rPr>
              <a:t>shot</a:t>
            </a:r>
            <a:r>
              <a:rPr lang="de-DE" altLang="de-DE" sz="1500" b="1" dirty="0">
                <a:solidFill>
                  <a:srgbClr val="000000"/>
                </a:solidFill>
                <a:latin typeface="+mn-lt"/>
              </a:rPr>
              <a:t>: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directly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instruct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model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(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no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examples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)</a:t>
            </a:r>
            <a:endParaRPr lang="de-DE" altLang="de-DE" sz="1500" dirty="0">
              <a:solidFill>
                <a:schemeClr val="tx1"/>
              </a:solidFill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altLang="de-DE" sz="1500" b="1" dirty="0" err="1">
                <a:solidFill>
                  <a:srgbClr val="000000"/>
                </a:solidFill>
                <a:latin typeface="+mn-lt"/>
              </a:rPr>
              <a:t>Few-shot</a:t>
            </a:r>
            <a:r>
              <a:rPr lang="de-DE" altLang="de-DE" sz="1500" b="1" dirty="0">
                <a:solidFill>
                  <a:srgbClr val="000000"/>
                </a:solidFill>
                <a:latin typeface="+mn-lt"/>
              </a:rPr>
              <a:t>: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 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include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a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few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labeled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QA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examples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before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the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test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item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Use </a:t>
            </a:r>
            <a:r>
              <a:rPr lang="de-DE" altLang="de-DE" sz="1500" b="1" dirty="0">
                <a:solidFill>
                  <a:schemeClr val="tx2"/>
                </a:solidFill>
                <a:latin typeface="+mn-lt"/>
              </a:rPr>
              <a:t>Prompt Engineering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techniques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enhance</a:t>
            </a:r>
            <a:r>
              <a:rPr lang="de-DE" altLang="de-DE" sz="150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altLang="de-DE" sz="1500" dirty="0" err="1">
                <a:solidFill>
                  <a:srgbClr val="000000"/>
                </a:solidFill>
                <a:latin typeface="+mn-lt"/>
              </a:rPr>
              <a:t>result</a:t>
            </a:r>
            <a:endParaRPr lang="de-DE" altLang="de-DE" sz="1500" dirty="0">
              <a:solidFill>
                <a:schemeClr val="tx1"/>
              </a:solidFill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500" dirty="0">
                <a:latin typeface="+mn-lt"/>
              </a:rPr>
              <a:t>Use via APIs </a:t>
            </a:r>
            <a:r>
              <a:rPr lang="de-DE" sz="1500" dirty="0" err="1">
                <a:latin typeface="+mn-lt"/>
              </a:rPr>
              <a:t>provided</a:t>
            </a:r>
            <a:r>
              <a:rPr lang="de-DE" sz="1500" dirty="0">
                <a:latin typeface="+mn-lt"/>
              </a:rPr>
              <a:t> </a:t>
            </a:r>
            <a:r>
              <a:rPr lang="de-DE" sz="1500" dirty="0" err="1">
                <a:latin typeface="+mn-lt"/>
              </a:rPr>
              <a:t>by</a:t>
            </a:r>
            <a:r>
              <a:rPr lang="de-DE" sz="1500" dirty="0">
                <a:latin typeface="+mn-lt"/>
              </a:rPr>
              <a:t> Model Providers </a:t>
            </a:r>
            <a:r>
              <a:rPr lang="de-DE" sz="1500" i="1" dirty="0">
                <a:latin typeface="+mn-lt"/>
              </a:rPr>
              <a:t>(OpenAI, Anthropic, …)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13A137-1634-BFCC-4F42-920B15D1D0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10771CE-7588-0E83-1F7B-6C96C6F96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LLM </a:t>
            </a:r>
            <a:r>
              <a:rPr lang="de-DE" dirty="0" err="1"/>
              <a:t>Prompting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8724C05-DB6E-253B-81FC-669EF1F48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158" y="895873"/>
            <a:ext cx="2408759" cy="384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24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B51B8FA-1EA8-5A19-2598-9DBB88941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91" y="1222525"/>
            <a:ext cx="7940990" cy="3463775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The </a:t>
            </a:r>
            <a:r>
              <a:rPr lang="de-DE" dirty="0" err="1">
                <a:latin typeface="+mn-lt"/>
              </a:rPr>
              <a:t>system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shall</a:t>
            </a:r>
            <a:r>
              <a:rPr lang="de-DE" dirty="0">
                <a:latin typeface="+mn-lt"/>
              </a:rPr>
              <a:t> perform </a:t>
            </a:r>
            <a:r>
              <a:rPr lang="de-DE" dirty="0" err="1">
                <a:latin typeface="+mn-lt"/>
              </a:rPr>
              <a:t>full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inference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runs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from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dataset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loading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to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evaluation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output</a:t>
            </a:r>
            <a:r>
              <a:rPr lang="de-DE" dirty="0">
                <a:latin typeface="+mn-lt"/>
              </a:rPr>
              <a:t> in a </a:t>
            </a:r>
            <a:r>
              <a:rPr lang="de-DE" b="1" dirty="0" err="1">
                <a:latin typeface="+mn-lt"/>
              </a:rPr>
              <a:t>single</a:t>
            </a:r>
            <a:r>
              <a:rPr lang="de-DE" b="1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process</a:t>
            </a:r>
            <a:r>
              <a:rPr lang="de-DE" dirty="0">
                <a:latin typeface="+mn-lt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The </a:t>
            </a:r>
            <a:r>
              <a:rPr lang="de-DE" dirty="0" err="1">
                <a:latin typeface="+mn-lt"/>
              </a:rPr>
              <a:t>system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shall</a:t>
            </a:r>
            <a:r>
              <a:rPr lang="de-DE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store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datasets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taxonomies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model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configurations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predictions</a:t>
            </a:r>
            <a:r>
              <a:rPr lang="de-DE" dirty="0">
                <a:latin typeface="+mn-lt"/>
              </a:rPr>
              <a:t>, and </a:t>
            </a:r>
            <a:r>
              <a:rPr lang="de-DE" dirty="0" err="1">
                <a:latin typeface="+mn-lt"/>
              </a:rPr>
              <a:t>evaluations</a:t>
            </a:r>
            <a:r>
              <a:rPr lang="de-DE" dirty="0">
                <a:latin typeface="+mn-lt"/>
              </a:rPr>
              <a:t> in </a:t>
            </a:r>
            <a:r>
              <a:rPr lang="de-DE" b="1" dirty="0" err="1">
                <a:latin typeface="+mn-lt"/>
              </a:rPr>
              <a:t>database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for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future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retrieval</a:t>
            </a:r>
            <a:r>
              <a:rPr lang="de-DE" dirty="0">
                <a:latin typeface="+mn-lt"/>
              </a:rPr>
              <a:t> and </a:t>
            </a:r>
            <a:r>
              <a:rPr lang="de-DE" b="1" dirty="0" err="1">
                <a:latin typeface="+mn-lt"/>
              </a:rPr>
              <a:t>analysis</a:t>
            </a:r>
            <a:r>
              <a:rPr lang="de-DE" dirty="0">
                <a:latin typeface="+mn-lt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The </a:t>
            </a:r>
            <a:r>
              <a:rPr lang="de-DE" dirty="0" err="1">
                <a:latin typeface="+mn-lt"/>
              </a:rPr>
              <a:t>system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shall</a:t>
            </a:r>
            <a:r>
              <a:rPr lang="de-DE" dirty="0">
                <a:latin typeface="+mn-lt"/>
              </a:rPr>
              <a:t> support </a:t>
            </a:r>
            <a:r>
              <a:rPr lang="de-DE" b="1" dirty="0">
                <a:latin typeface="+mn-lt"/>
              </a:rPr>
              <a:t>multiple </a:t>
            </a:r>
            <a:r>
              <a:rPr lang="de-DE" b="1" dirty="0" err="1">
                <a:latin typeface="+mn-lt"/>
              </a:rPr>
              <a:t>model</a:t>
            </a:r>
            <a:r>
              <a:rPr lang="de-DE" b="1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providers</a:t>
            </a:r>
            <a:r>
              <a:rPr lang="de-DE" b="1" dirty="0">
                <a:latin typeface="+mn-lt"/>
              </a:rPr>
              <a:t> </a:t>
            </a:r>
            <a:r>
              <a:rPr lang="de-DE" dirty="0">
                <a:latin typeface="+mn-lt"/>
              </a:rPr>
              <a:t>(e.g., OpenAI, Anthropic, </a:t>
            </a:r>
            <a:r>
              <a:rPr lang="de-DE" dirty="0" err="1">
                <a:latin typeface="+mn-lt"/>
              </a:rPr>
              <a:t>Together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locally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hosted</a:t>
            </a:r>
            <a:r>
              <a:rPr lang="de-DE" dirty="0">
                <a:latin typeface="+mn-lt"/>
              </a:rPr>
              <a:t>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The </a:t>
            </a:r>
            <a:r>
              <a:rPr lang="de-DE" dirty="0" err="1">
                <a:latin typeface="+mn-lt"/>
              </a:rPr>
              <a:t>system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shall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allow</a:t>
            </a:r>
            <a:r>
              <a:rPr lang="de-DE" dirty="0">
                <a:latin typeface="+mn-lt"/>
              </a:rPr>
              <a:t> all </a:t>
            </a:r>
            <a:r>
              <a:rPr lang="de-DE" dirty="0" err="1">
                <a:latin typeface="+mn-lt"/>
              </a:rPr>
              <a:t>aspects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of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pipeline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to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be</a:t>
            </a:r>
            <a:r>
              <a:rPr lang="de-DE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configured</a:t>
            </a:r>
            <a:r>
              <a:rPr lang="de-DE" dirty="0">
                <a:latin typeface="+mn-lt"/>
              </a:rPr>
              <a:t> via external </a:t>
            </a:r>
            <a:r>
              <a:rPr lang="de-DE" dirty="0" err="1">
                <a:latin typeface="+mn-lt"/>
              </a:rPr>
              <a:t>files</a:t>
            </a:r>
            <a:r>
              <a:rPr lang="de-DE" dirty="0">
                <a:latin typeface="+mn-lt"/>
              </a:rPr>
              <a:t>, </a:t>
            </a:r>
            <a:r>
              <a:rPr lang="de-DE" dirty="0" err="1">
                <a:latin typeface="+mn-lt"/>
              </a:rPr>
              <a:t>enabling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reproducible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experiments</a:t>
            </a:r>
            <a:r>
              <a:rPr lang="de-DE" dirty="0">
                <a:latin typeface="+mn-lt"/>
              </a:rPr>
              <a:t> and </a:t>
            </a:r>
            <a:r>
              <a:rPr lang="de-DE" b="1" dirty="0" err="1">
                <a:latin typeface="+mn-lt"/>
              </a:rPr>
              <a:t>dynamic</a:t>
            </a:r>
            <a:r>
              <a:rPr lang="de-DE" b="1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adjustments</a:t>
            </a:r>
            <a:r>
              <a:rPr lang="de-DE" dirty="0">
                <a:latin typeface="+mn-lt"/>
              </a:rPr>
              <a:t>.</a:t>
            </a:r>
            <a:br>
              <a:rPr lang="de-DE" dirty="0">
                <a:latin typeface="+mn-lt"/>
              </a:rPr>
            </a:br>
            <a:endParaRPr lang="de-DE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CF7A514-8BEA-E9A3-6D16-39B8C08EB5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9DE1708-30E8-2D6B-E256-4489343F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Pipeline - </a:t>
            </a:r>
            <a:r>
              <a:rPr lang="de-DE" dirty="0" err="1"/>
              <a:t>Requirements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9673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6F73F2E-E196-D843-8781-14ACADCB7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1439D87-EDB2-EC98-4FC2-6B3BA9486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Pipeline - Architecture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ABAEB7C-E454-F800-39C5-EDA49419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593" y="785903"/>
            <a:ext cx="6339641" cy="414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0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747CE67-F25A-637D-61AD-2943E1D17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Implementation in </a:t>
            </a:r>
            <a:r>
              <a:rPr lang="de-DE" b="1" dirty="0">
                <a:latin typeface="+mn-lt"/>
              </a:rPr>
              <a:t>Java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3 </a:t>
            </a:r>
            <a:r>
              <a:rPr lang="de-DE" b="1" dirty="0" err="1">
                <a:latin typeface="+mn-lt"/>
              </a:rPr>
              <a:t>submodules</a:t>
            </a:r>
            <a:r>
              <a:rPr lang="de-DE" dirty="0">
                <a:latin typeface="+mn-lt"/>
              </a:rPr>
              <a:t> in </a:t>
            </a:r>
            <a:r>
              <a:rPr lang="de-DE" dirty="0" err="1">
                <a:latin typeface="+mn-lt"/>
              </a:rPr>
              <a:t>repository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tx2"/>
                </a:solidFill>
                <a:latin typeface="+mn-lt"/>
              </a:rPr>
              <a:t>clarity-utils</a:t>
            </a:r>
            <a:r>
              <a:rPr lang="de-DE" dirty="0">
                <a:latin typeface="+mn-lt"/>
              </a:rPr>
              <a:t>: </a:t>
            </a:r>
            <a:r>
              <a:rPr lang="de-DE" dirty="0" err="1">
                <a:latin typeface="+mn-lt"/>
              </a:rPr>
              <a:t>Contains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general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java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utility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classes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functions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used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across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project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b="1" dirty="0">
                <a:solidFill>
                  <a:schemeClr val="tx2"/>
                </a:solidFill>
                <a:latin typeface="+mn-lt"/>
              </a:rPr>
              <a:t>clarity-neo4j</a:t>
            </a:r>
            <a:r>
              <a:rPr lang="de-DE" dirty="0">
                <a:latin typeface="+mn-lt"/>
              </a:rPr>
              <a:t>: Handles </a:t>
            </a:r>
            <a:r>
              <a:rPr lang="de-DE" dirty="0" err="1">
                <a:latin typeface="+mn-lt"/>
              </a:rPr>
              <a:t>interactions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with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Neo4j </a:t>
            </a:r>
            <a:r>
              <a:rPr lang="de-DE" dirty="0" err="1">
                <a:latin typeface="+mn-lt"/>
              </a:rPr>
              <a:t>database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provides</a:t>
            </a:r>
            <a:r>
              <a:rPr lang="de-DE" dirty="0">
                <a:latin typeface="+mn-lt"/>
              </a:rPr>
              <a:t> utilities </a:t>
            </a:r>
            <a:r>
              <a:rPr lang="de-DE" dirty="0" err="1">
                <a:latin typeface="+mn-lt"/>
              </a:rPr>
              <a:t>for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managing</a:t>
            </a:r>
            <a:r>
              <a:rPr lang="de-DE" dirty="0">
                <a:latin typeface="+mn-lt"/>
              </a:rPr>
              <a:t> neo4j </a:t>
            </a:r>
            <a:r>
              <a:rPr lang="de-DE" dirty="0" err="1">
                <a:latin typeface="+mn-lt"/>
              </a:rPr>
              <a:t>data</a:t>
            </a:r>
            <a:r>
              <a:rPr lang="de-DE" dirty="0">
                <a:latin typeface="+mn-lt"/>
              </a:rPr>
              <a:t>.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chemeClr val="tx2"/>
                </a:solidFill>
                <a:latin typeface="+mn-lt"/>
              </a:rPr>
              <a:t>clarity</a:t>
            </a:r>
            <a:r>
              <a:rPr lang="de-DE" b="1" dirty="0">
                <a:solidFill>
                  <a:schemeClr val="tx2"/>
                </a:solidFill>
                <a:latin typeface="+mn-lt"/>
              </a:rPr>
              <a:t>-pipeline</a:t>
            </a:r>
            <a:r>
              <a:rPr lang="de-DE" dirty="0">
                <a:latin typeface="+mn-lt"/>
              </a:rPr>
              <a:t>: Actual </a:t>
            </a:r>
            <a:r>
              <a:rPr lang="de-DE" dirty="0" err="1">
                <a:latin typeface="+mn-lt"/>
              </a:rPr>
              <a:t>services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logic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used</a:t>
            </a:r>
            <a:r>
              <a:rPr lang="de-DE" dirty="0">
                <a:latin typeface="+mn-lt"/>
              </a:rPr>
              <a:t> in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pipeline</a:t>
            </a:r>
            <a:endParaRPr lang="de-DE" dirty="0">
              <a:latin typeface="+mn-lt"/>
            </a:endParaRPr>
          </a:p>
          <a:p>
            <a:pPr marL="1428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Data </a:t>
            </a:r>
            <a:r>
              <a:rPr lang="de-DE" dirty="0" err="1">
                <a:latin typeface="+mn-lt"/>
              </a:rPr>
              <a:t>ingestion</a:t>
            </a:r>
            <a:r>
              <a:rPr lang="de-DE" dirty="0">
                <a:latin typeface="+mn-lt"/>
              </a:rPr>
              <a:t>/</a:t>
            </a:r>
            <a:r>
              <a:rPr lang="de-DE" dirty="0" err="1">
                <a:latin typeface="+mn-lt"/>
              </a:rPr>
              <a:t>processing</a:t>
            </a:r>
            <a:endParaRPr lang="de-DE" dirty="0">
              <a:latin typeface="+mn-lt"/>
            </a:endParaRPr>
          </a:p>
          <a:p>
            <a:pPr marL="1428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Classification</a:t>
            </a:r>
          </a:p>
          <a:p>
            <a:pPr marL="1428750" lvl="2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Evaluation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b="1" dirty="0" err="1">
                <a:latin typeface="+mn-lt"/>
              </a:rPr>
              <a:t>Configurations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are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written</a:t>
            </a:r>
            <a:r>
              <a:rPr lang="de-DE" dirty="0">
                <a:latin typeface="+mn-lt"/>
              </a:rPr>
              <a:t> in YAML </a:t>
            </a:r>
            <a:r>
              <a:rPr lang="de-DE" dirty="0" err="1">
                <a:latin typeface="+mn-lt"/>
              </a:rPr>
              <a:t>files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that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are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parsed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by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pipeline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i="1" dirty="0" err="1">
                <a:latin typeface="+mn-lt"/>
              </a:rPr>
              <a:t>Taxonomy</a:t>
            </a:r>
            <a:endParaRPr lang="de-DE" i="1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i="1" dirty="0">
                <a:latin typeface="+mn-lt"/>
              </a:rPr>
              <a:t>Prompts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i="1" dirty="0">
                <a:latin typeface="+mn-lt"/>
              </a:rPr>
              <a:t>Database </a:t>
            </a:r>
            <a:r>
              <a:rPr lang="de-DE" i="1" dirty="0" err="1">
                <a:latin typeface="+mn-lt"/>
              </a:rPr>
              <a:t>Credentials</a:t>
            </a:r>
            <a:endParaRPr lang="de-DE" i="1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i="1" dirty="0">
                <a:latin typeface="+mn-lt"/>
              </a:rPr>
              <a:t>Pipeline Properties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D0B82FD-3230-BE76-6B98-DD647939E9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E065AEB-079F-6ABA-61A2-8B0D6A0E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Pipeline - Technical Details</a:t>
            </a:r>
          </a:p>
        </p:txBody>
      </p:sp>
    </p:spTree>
    <p:extLst>
      <p:ext uri="{BB962C8B-B14F-4D97-AF65-F5344CB8AC3E}">
        <p14:creationId xmlns:p14="http://schemas.microsoft.com/office/powerpoint/2010/main" val="644752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9AD97E8-4300-F64B-2BAB-A81330132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91" y="1222525"/>
            <a:ext cx="3765230" cy="3463775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n-lt"/>
              </a:rPr>
              <a:t>Before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using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Pipeline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b="1" dirty="0">
                <a:latin typeface="+mn-lt"/>
              </a:rPr>
              <a:t>Dataset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needs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to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be</a:t>
            </a:r>
            <a:r>
              <a:rPr lang="de-DE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stored</a:t>
            </a:r>
            <a:r>
              <a:rPr lang="de-DE" b="1" dirty="0">
                <a:latin typeface="+mn-lt"/>
              </a:rPr>
              <a:t> in </a:t>
            </a:r>
            <a:r>
              <a:rPr lang="de-DE" b="1" dirty="0" err="1">
                <a:latin typeface="+mn-lt"/>
              </a:rPr>
              <a:t>the</a:t>
            </a:r>
            <a:r>
              <a:rPr lang="de-DE" b="1" dirty="0">
                <a:latin typeface="+mn-lt"/>
              </a:rPr>
              <a:t> Database</a:t>
            </a:r>
          </a:p>
          <a:p>
            <a:pPr marL="1028700" lvl="1" indent="-342900">
              <a:buFont typeface="+mj-lt"/>
              <a:buAutoNum type="arabicPeriod"/>
            </a:pPr>
            <a:r>
              <a:rPr lang="de-DE" i="1" dirty="0">
                <a:latin typeface="+mn-lt"/>
              </a:rPr>
              <a:t>Start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Database </a:t>
            </a:r>
            <a:r>
              <a:rPr lang="de-DE" sz="1000" i="1" dirty="0">
                <a:latin typeface="+mn-lt"/>
              </a:rPr>
              <a:t>(</a:t>
            </a:r>
            <a:r>
              <a:rPr lang="de-DE" sz="1000" i="1" dirty="0" err="1">
                <a:latin typeface="+mn-lt"/>
              </a:rPr>
              <a:t>using</a:t>
            </a:r>
            <a:r>
              <a:rPr lang="de-DE" sz="1000" i="1" dirty="0">
                <a:latin typeface="+mn-lt"/>
              </a:rPr>
              <a:t> </a:t>
            </a:r>
            <a:r>
              <a:rPr lang="de-DE" sz="1000" i="1" dirty="0" err="1">
                <a:latin typeface="+mn-lt"/>
              </a:rPr>
              <a:t>the</a:t>
            </a:r>
            <a:r>
              <a:rPr lang="de-DE" sz="1000" i="1" dirty="0">
                <a:latin typeface="+mn-lt"/>
              </a:rPr>
              <a:t> </a:t>
            </a:r>
            <a:r>
              <a:rPr lang="de-DE" sz="1000" i="1" dirty="0" err="1">
                <a:latin typeface="+mn-lt"/>
              </a:rPr>
              <a:t>provided</a:t>
            </a:r>
            <a:r>
              <a:rPr lang="de-DE" sz="1000" i="1" dirty="0">
                <a:latin typeface="+mn-lt"/>
              </a:rPr>
              <a:t> </a:t>
            </a:r>
            <a:r>
              <a:rPr lang="de-DE" sz="1000" i="1" dirty="0" err="1">
                <a:latin typeface="+mn-lt"/>
              </a:rPr>
              <a:t>docker-compose.yaml</a:t>
            </a:r>
            <a:r>
              <a:rPr lang="de-DE" sz="1000" i="1" dirty="0">
                <a:latin typeface="+mn-lt"/>
              </a:rPr>
              <a:t>)</a:t>
            </a:r>
            <a:br>
              <a:rPr lang="de-DE" sz="1000" i="1" dirty="0">
                <a:latin typeface="+mn-lt"/>
              </a:rPr>
            </a:br>
            <a:br>
              <a:rPr lang="de-DE" sz="1000" i="1" dirty="0">
                <a:latin typeface="+mn-lt"/>
              </a:rPr>
            </a:br>
            <a:br>
              <a:rPr lang="de-DE" sz="1000" i="1" dirty="0">
                <a:latin typeface="+mn-lt"/>
              </a:rPr>
            </a:br>
            <a:endParaRPr lang="de-DE" sz="1000" i="1" dirty="0">
              <a:latin typeface="+mn-lt"/>
            </a:endParaRPr>
          </a:p>
          <a:p>
            <a:pPr marL="1028700" lvl="1" indent="-342900">
              <a:buFont typeface="+mj-lt"/>
              <a:buAutoNum type="arabicPeriod"/>
            </a:pPr>
            <a:r>
              <a:rPr lang="de-DE" i="1" dirty="0">
                <a:latin typeface="+mn-lt"/>
              </a:rPr>
              <a:t>Import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dataset</a:t>
            </a:r>
            <a:endParaRPr lang="de-DE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de-DE" dirty="0"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0E31764-BB2C-95F3-B52A-4605D382E9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1810083-11D8-4CD2-A971-E1253C0D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Pipeline - </a:t>
            </a:r>
            <a:r>
              <a:rPr lang="de-DE" dirty="0" err="1"/>
              <a:t>Prerequisites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201C8E0-863F-105B-7201-E7EC1C326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90" y="2173208"/>
            <a:ext cx="1995170" cy="30868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EA6EDC4-1185-3A8D-D053-09FFFBC65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90" y="3021260"/>
            <a:ext cx="2758053" cy="8997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4DAE929-6DDA-CA5A-B18C-C1993F1ED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282" y="1222525"/>
            <a:ext cx="4408274" cy="299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6D5183E-6126-541C-62B0-F9FEEFE852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16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25630E0-A7DB-1D28-40F3-930A20BC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6617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/>
              <a:t>Pipeline -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br>
              <a:rPr lang="de-DE" dirty="0"/>
            </a:br>
            <a:r>
              <a:rPr lang="de-DE" sz="1800" dirty="0" err="1">
                <a:solidFill>
                  <a:schemeClr val="tx2"/>
                </a:solidFill>
              </a:rPr>
              <a:t>Taxonomy</a:t>
            </a:r>
            <a:endParaRPr lang="de-DE" sz="1800" dirty="0">
              <a:solidFill>
                <a:schemeClr val="tx2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D0A117-F7BE-3A21-38EB-A67CDC15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1336826"/>
            <a:ext cx="8070838" cy="201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67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B357-C8AD-BB32-6213-844466BD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6D1C904-2F9C-108D-CAFD-CC5B32BCDC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17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19523C9-ED58-025C-AC46-10B7BEFC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6617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/>
              <a:t>Pipeline -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br>
              <a:rPr lang="de-DE" dirty="0"/>
            </a:br>
            <a:r>
              <a:rPr lang="de-DE" sz="1800" dirty="0">
                <a:solidFill>
                  <a:schemeClr val="tx2"/>
                </a:solidFill>
              </a:rPr>
              <a:t>Prompt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FFA4FDC-DF62-F159-BBF3-863010EE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1284329"/>
            <a:ext cx="8014439" cy="347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11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86EA-A591-FCB2-229D-55C1EB28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60AC9DB-9A74-D275-5FBE-ADAD854A1A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18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CB947B1-CFC1-FC02-D9A7-F077DAF5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6617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/>
              <a:t>Pipeline -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br>
              <a:rPr lang="de-DE" dirty="0"/>
            </a:br>
            <a:r>
              <a:rPr lang="de-DE" sz="1800" dirty="0">
                <a:solidFill>
                  <a:schemeClr val="tx2"/>
                </a:solidFill>
              </a:rPr>
              <a:t>Pipeline Properties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BA176D3-7CB1-CD6C-AECD-8A33CDBEE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1216738"/>
            <a:ext cx="3765115" cy="37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74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6D73776-E23F-E253-4CAF-5F562289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090" y="2210943"/>
            <a:ext cx="8508999" cy="2475357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b="1" dirty="0" err="1">
                <a:latin typeface="+mn-lt"/>
              </a:rPr>
              <a:t>Executes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Classification Pipeline </a:t>
            </a:r>
            <a:r>
              <a:rPr lang="de-DE" dirty="0" err="1">
                <a:latin typeface="+mn-lt"/>
              </a:rPr>
              <a:t>with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i="1" dirty="0" err="1">
                <a:latin typeface="+mn-lt"/>
              </a:rPr>
              <a:t>configured</a:t>
            </a:r>
            <a:r>
              <a:rPr lang="de-DE" i="1" dirty="0">
                <a:latin typeface="+mn-lt"/>
              </a:rPr>
              <a:t> </a:t>
            </a:r>
            <a:r>
              <a:rPr lang="de-DE" i="1" dirty="0" err="1">
                <a:latin typeface="+mn-lt"/>
              </a:rPr>
              <a:t>properties</a:t>
            </a:r>
            <a:endParaRPr lang="de-DE" i="1" dirty="0">
              <a:latin typeface="+mn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The </a:t>
            </a:r>
            <a:r>
              <a:rPr lang="de-DE" dirty="0" err="1">
                <a:latin typeface="+mn-lt"/>
              </a:rPr>
              <a:t>pipeline</a:t>
            </a:r>
            <a:r>
              <a:rPr lang="de-DE" dirty="0">
                <a:latin typeface="+mn-lt"/>
              </a:rPr>
              <a:t> </a:t>
            </a:r>
            <a:r>
              <a:rPr lang="de-DE" b="1" dirty="0" err="1">
                <a:latin typeface="+mn-lt"/>
              </a:rPr>
              <a:t>automatically</a:t>
            </a:r>
            <a:endParaRPr lang="de-DE" b="1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n-lt"/>
              </a:rPr>
              <a:t>Chooses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correct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model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Runs a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for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each</a:t>
            </a:r>
            <a:r>
              <a:rPr lang="de-DE" dirty="0">
                <a:latin typeface="+mn-lt"/>
              </a:rPr>
              <a:t> QA (</a:t>
            </a:r>
            <a:r>
              <a:rPr lang="de-DE" dirty="0" err="1">
                <a:latin typeface="+mn-lt"/>
              </a:rPr>
              <a:t>returned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by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query</a:t>
            </a:r>
            <a:r>
              <a:rPr lang="de-DE" dirty="0">
                <a:latin typeface="+mn-lt"/>
              </a:rPr>
              <a:t>)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Parses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output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matches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it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to</a:t>
            </a:r>
            <a:r>
              <a:rPr lang="de-DE" dirty="0">
                <a:latin typeface="+mn-lt"/>
              </a:rPr>
              <a:t> a </a:t>
            </a:r>
            <a:r>
              <a:rPr lang="de-DE" dirty="0" err="1">
                <a:latin typeface="+mn-lt"/>
              </a:rPr>
              <a:t>label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defined</a:t>
            </a:r>
            <a:r>
              <a:rPr lang="de-DE" dirty="0">
                <a:latin typeface="+mn-lt"/>
              </a:rPr>
              <a:t> in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taxonomy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n-lt"/>
              </a:rPr>
              <a:t>Persists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versioned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run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each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in </a:t>
            </a:r>
            <a:r>
              <a:rPr lang="de-DE" dirty="0" err="1">
                <a:latin typeface="+mn-lt"/>
              </a:rPr>
              <a:t>database</a:t>
            </a:r>
            <a:endParaRPr lang="de-DE" dirty="0">
              <a:latin typeface="+mn-lt"/>
            </a:endParaRP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+mn-lt"/>
              </a:rPr>
              <a:t>Evaluates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results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stores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the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evaluation</a:t>
            </a:r>
            <a:r>
              <a:rPr lang="de-DE" dirty="0">
                <a:latin typeface="+mn-lt"/>
              </a:rPr>
              <a:t> in </a:t>
            </a:r>
            <a:r>
              <a:rPr lang="de-DE" dirty="0" err="1">
                <a:latin typeface="+mn-lt"/>
              </a:rPr>
              <a:t>database</a:t>
            </a:r>
            <a:endParaRPr lang="de-DE" dirty="0">
              <a:latin typeface="+mn-lt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20FB9B1-91E5-2683-41B9-6D5E556CFB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19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3259BBD-8066-5199-9CC3-DCC51D56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Pipeline - </a:t>
            </a:r>
            <a:r>
              <a:rPr lang="de-DE" dirty="0" err="1"/>
              <a:t>Execution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9F41A5C-9856-93C2-41E4-76B5C9FDA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24" y="1222525"/>
            <a:ext cx="4552950" cy="98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8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299C3-7350-CEF3-1ED2-6869C67D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65ED941-E589-18EB-E867-8117909D8E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20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33D0CC9-BB3D-1B2A-5D3B-963DE7B1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Pipeline - Graph </a:t>
            </a:r>
            <a:r>
              <a:rPr lang="de-DE" dirty="0" err="1"/>
              <a:t>Ontology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E908C8B-F274-0A31-59DE-F1AA24EA9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2" y="934494"/>
            <a:ext cx="4439457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31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2918B6F-16AA-FE7F-E903-8F84E6B7DF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21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DEB95D-A2C0-6201-0950-1EB6486D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62" y="293460"/>
            <a:ext cx="8508999" cy="492443"/>
          </a:xfrm>
        </p:spPr>
        <p:txBody>
          <a:bodyPr/>
          <a:lstStyle/>
          <a:p>
            <a:r>
              <a:rPr lang="de-DE" dirty="0"/>
              <a:t>Initial Experiments</a:t>
            </a:r>
          </a:p>
        </p:txBody>
      </p:sp>
      <p:pic>
        <p:nvPicPr>
          <p:cNvPr id="6" name="Grafik 5" descr="Ein Bild, das Text, Zahl, Schrift, Reihe enthält.&#10;&#10;KI-generierte Inhalte können fehlerhaft sein.">
            <a:extLst>
              <a:ext uri="{FF2B5EF4-FFF2-40B4-BE49-F238E27FC236}">
                <a16:creationId xmlns:a16="http://schemas.microsoft.com/office/drawing/2014/main" id="{D7161EF0-5C3D-9AB1-B267-CC692AD12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1" y="1222525"/>
            <a:ext cx="8508999" cy="288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45085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el 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el 2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halt">
  <a:themeElements>
    <a:clrScheme name="TUM">
      <a:dk1>
        <a:srgbClr val="000000"/>
      </a:dk1>
      <a:lt1>
        <a:srgbClr val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Macintosh PowerPoint</Application>
  <PresentationFormat>Bildschirmpräsentation (16:9)</PresentationFormat>
  <Paragraphs>126</Paragraphs>
  <Slides>21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21</vt:i4>
      </vt:variant>
    </vt:vector>
  </HeadingPairs>
  <TitlesOfParts>
    <vt:vector size="28" baseType="lpstr">
      <vt:lpstr>Arial</vt:lpstr>
      <vt:lpstr>Calibri</vt:lpstr>
      <vt:lpstr>Noto Sans Symbols</vt:lpstr>
      <vt:lpstr>Titel 3</vt:lpstr>
      <vt:lpstr>Titel 1</vt:lpstr>
      <vt:lpstr>Titel 2</vt:lpstr>
      <vt:lpstr>Inhalt</vt:lpstr>
      <vt:lpstr>Human-Centered Computing: applications in natural language processing, network science, machine learning, and AI (IN0012, IN2106, IN4906_8)</vt:lpstr>
      <vt:lpstr>10. November 2025 Pipeline &amp; Initial Experiments</vt:lpstr>
      <vt:lpstr>Refresher</vt:lpstr>
      <vt:lpstr>Classification Model Types</vt:lpstr>
      <vt:lpstr>Encoder Models</vt:lpstr>
      <vt:lpstr>Encoder Models</vt:lpstr>
      <vt:lpstr>Encoder Models - Implementation</vt:lpstr>
      <vt:lpstr>Encoder Models - Implementation</vt:lpstr>
      <vt:lpstr>LoRA Fine-Tuned Models</vt:lpstr>
      <vt:lpstr>LoRA Fine-Tuned Models - Implementation</vt:lpstr>
      <vt:lpstr>LLM Prompting</vt:lpstr>
      <vt:lpstr>Pipeline - Requirements</vt:lpstr>
      <vt:lpstr>Pipeline - Architecture</vt:lpstr>
      <vt:lpstr>Pipeline - Technical Details</vt:lpstr>
      <vt:lpstr>Pipeline - Prerequisites</vt:lpstr>
      <vt:lpstr>Pipeline - Define Configuration Taxonomy</vt:lpstr>
      <vt:lpstr>Pipeline - Define Configuration Prompt</vt:lpstr>
      <vt:lpstr>Pipeline - Define Configuration Pipeline Properties</vt:lpstr>
      <vt:lpstr>Pipeline - Execution</vt:lpstr>
      <vt:lpstr>Pipeline - Graph Ontology</vt:lpstr>
      <vt:lpstr>Initial 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Nils Knittel</cp:lastModifiedBy>
  <cp:revision>5</cp:revision>
  <dcterms:modified xsi:type="dcterms:W3CDTF">2025-11-09T21:38:42Z</dcterms:modified>
</cp:coreProperties>
</file>